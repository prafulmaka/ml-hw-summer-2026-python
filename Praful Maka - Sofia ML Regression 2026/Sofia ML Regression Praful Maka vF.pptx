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6"/>
    <p:restoredTop sz="96087"/>
  </p:normalViewPr>
  <p:slideViewPr>
    <p:cSldViewPr snapToGrid="0" snapToObjects="1">
      <p:cViewPr varScale="1">
        <p:scale>
          <a:sx n="120" d="100"/>
          <a:sy n="120" d="100"/>
        </p:scale>
        <p:origin x="3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Per-fold R²</c:v>
                </c:pt>
              </c:strCache>
            </c:strRef>
          </c:tx>
          <c:spPr>
            <a:solidFill>
              <a:srgbClr val="4F4F4F"/>
            </a:solidFill>
            <a:effectLst/>
          </c:spPr>
          <c:invertIfNegative val="0"/>
          <c:dLbls>
            <c:numFmt formatCode="0.000" sourceLinked="0"/>
            <c:spPr>
              <a:noFill/>
              <a:ln>
                <a:noFill/>
              </a:ln>
              <a:effectLst/>
            </c:spPr>
            <c:txPr>
              <a:bodyPr/>
              <a:lstStyle/>
              <a:p>
                <a:pPr>
                  <a:defRPr sz="1100" b="0" i="0" u="none" strike="noStrike">
                    <a:solidFill>
                      <a:srgbClr val="12121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Mean-impute OLS</c:v>
                </c:pt>
                <c:pt idx="1">
                  <c:v>Drop-NA OLS</c:v>
                </c:pt>
                <c:pt idx="2">
                  <c:v>Polynomial deg. 2</c:v>
                </c:pt>
                <c:pt idx="3">
                  <c:v>HistGradientBoosting</c:v>
                </c:pt>
                <c:pt idx="4">
                  <c:v>Dummy (mean)</c:v>
                </c:pt>
              </c:strCache>
            </c:strRef>
          </c:cat>
          <c:val>
            <c:numRef>
              <c:f>Sheet1!$B$2:$B$6</c:f>
              <c:numCache>
                <c:formatCode>General</c:formatCode>
                <c:ptCount val="5"/>
                <c:pt idx="0">
                  <c:v>0.53600000000000003</c:v>
                </c:pt>
                <c:pt idx="1">
                  <c:v>0.53</c:v>
                </c:pt>
                <c:pt idx="2">
                  <c:v>0.46</c:v>
                </c:pt>
                <c:pt idx="3">
                  <c:v>0.44700000000000001</c:v>
                </c:pt>
                <c:pt idx="4">
                  <c:v>0</c:v>
                </c:pt>
              </c:numCache>
            </c:numRef>
          </c:val>
          <c:extLst>
            <c:ext xmlns:c16="http://schemas.microsoft.com/office/drawing/2014/chart" uri="{C3380CC4-5D6E-409C-BE32-E72D297353CC}">
              <c16:uniqueId val="{00000000-C5D4-1440-A5C3-5E35FBD922F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6B6B6B"/>
                </a:solidFill>
                <a:latin typeface="Calibri"/>
              </a:defRPr>
            </a:pPr>
            <a:endParaRPr lang="en-US"/>
          </a:p>
        </c:txPr>
        <c:crossAx val="2094734552"/>
        <c:crosses val="autoZero"/>
        <c:auto val="1"/>
        <c:lblAlgn val="ctr"/>
        <c:lblOffset val="100"/>
        <c:noMultiLvlLbl val="1"/>
      </c:catAx>
      <c:valAx>
        <c:axId val="2094734552"/>
        <c:scaling>
          <c:orientation val="minMax"/>
          <c:max val="0.62"/>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B6B6B"/>
                </a:solidFill>
                <a:latin typeface="Calibri"/>
              </a:defRPr>
            </a:pPr>
            <a:endParaRPr lang="en-US"/>
          </a:p>
        </c:txPr>
        <c:crossAx val="2094734552"/>
        <c:crosses val="autoZero"/>
        <c:auto val="1"/>
        <c:lblAlgn val="ctr"/>
        <c:lblOffset val="100"/>
        <c:noMultiLvlLbl val="1"/>
      </c:catAx>
      <c:valAx>
        <c:axId val="2094734552"/>
        <c:scaling>
          <c:orientation val="minMax"/>
          <c:max val="0.56000000000000005"/>
          <c:min val="0.45"/>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Per-fold R²</c:v>
                </c:pt>
              </c:strCache>
            </c:strRef>
          </c:tx>
          <c:spPr>
            <a:ln w="38100" cap="flat">
              <a:solidFill>
                <a:srgbClr val="C97B1E"/>
              </a:solidFill>
              <a:prstDash val="solid"/>
              <a:round/>
            </a:ln>
            <a:effectLst/>
          </c:spPr>
          <c:marker>
            <c:symbol val="circle"/>
            <c:size val="9"/>
            <c:spPr>
              <a:solidFill>
                <a:srgbClr val="C97B1E"/>
              </a:solidFill>
              <a:ln w="9525" cap="flat">
                <a:solidFill>
                  <a:srgbClr val="C97B1E"/>
                </a:solidFill>
                <a:prstDash val="solid"/>
                <a:round/>
              </a:ln>
              <a:effectLst/>
            </c:spPr>
          </c:marker>
          <c:dLbls>
            <c:numFmt formatCode="0.000" sourceLinked="0"/>
            <c:spPr>
              <a:noFill/>
              <a:ln>
                <a:noFill/>
              </a:ln>
              <a:effectLst/>
            </c:spPr>
            <c:txPr>
              <a:bodyPr/>
              <a:lstStyle/>
              <a:p>
                <a:pPr>
                  <a:defRPr sz="1100" b="0" i="0" u="none" strike="noStrike">
                    <a:solidFill>
                      <a:srgbClr val="14264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ε = 1.35
(most robust)</c:v>
                </c:pt>
                <c:pt idx="1">
                  <c:v>ε = 1.5</c:v>
                </c:pt>
                <c:pt idx="2">
                  <c:v>ε = 2.0</c:v>
                </c:pt>
                <c:pt idx="3">
                  <c:v>ε = 3.0
(nearest OLS)</c:v>
                </c:pt>
                <c:pt idx="4">
                  <c:v>Plain OLS</c:v>
                </c:pt>
              </c:strCache>
            </c:strRef>
          </c:cat>
          <c:val>
            <c:numRef>
              <c:f>Sheet1!$B$2:$B$6</c:f>
              <c:numCache>
                <c:formatCode>General</c:formatCode>
                <c:ptCount val="5"/>
                <c:pt idx="0">
                  <c:v>0.48099999999999998</c:v>
                </c:pt>
                <c:pt idx="1">
                  <c:v>0.48099999999999998</c:v>
                </c:pt>
                <c:pt idx="2">
                  <c:v>0.48199999999999998</c:v>
                </c:pt>
                <c:pt idx="3">
                  <c:v>0.51100000000000001</c:v>
                </c:pt>
                <c:pt idx="4">
                  <c:v>0.53600000000000003</c:v>
                </c:pt>
              </c:numCache>
            </c:numRef>
          </c:val>
          <c:smooth val="0"/>
          <c:extLst>
            <c:ext xmlns:c16="http://schemas.microsoft.com/office/drawing/2014/chart" uri="{C3380CC4-5D6E-409C-BE32-E72D297353CC}">
              <c16:uniqueId val="{00000000-07F5-AC4F-878A-5A73C5816F3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D6D7E"/>
                </a:solidFill>
                <a:latin typeface="Calibri"/>
              </a:defRPr>
            </a:pPr>
            <a:endParaRPr lang="en-US"/>
          </a:p>
        </c:txPr>
        <c:crossAx val="2094734552"/>
        <c:crosses val="autoZero"/>
        <c:auto val="1"/>
        <c:lblAlgn val="ctr"/>
        <c:lblOffset val="100"/>
        <c:noMultiLvlLbl val="1"/>
      </c:catAx>
      <c:valAx>
        <c:axId val="2094734552"/>
        <c:scaling>
          <c:orientation val="minMax"/>
          <c:max val="0.56000000000000005"/>
          <c:min val="0.45"/>
        </c:scaling>
        <c:delete val="0"/>
        <c:axPos val="l"/>
        <c:majorGridlines>
          <c:spPr>
            <a:ln w="12700" cap="flat">
              <a:solidFill>
                <a:srgbClr val="E4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D7E"/>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B6B6B"/>
                    </a:solidFill>
                    <a:latin typeface="Calibri"/>
                  </a:defRPr>
                </a:pPr>
                <a:r>
                  <a:rPr lang="en-US" sz="1100" b="0" i="0" u="none" strike="noStrike">
                    <a:solidFill>
                      <a:srgbClr val="6B6B6B"/>
                    </a:solidFill>
                    <a:latin typeface="Calibri"/>
                  </a:rPr>
                  <a:t>|t| threshold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Calibri"/>
              </a:defRPr>
            </a:pPr>
            <a:endParaRPr lang="en-US"/>
          </a:p>
        </c:txPr>
        <c:crossAx val="2094734552"/>
        <c:crosses val="autoZero"/>
        <c:auto val="1"/>
        <c:lblAlgn val="ctr"/>
        <c:lblOffset val="100"/>
        <c:noMultiLvlLbl val="1"/>
      </c:catAx>
      <c:valAx>
        <c:axId val="2094734552"/>
        <c:scaling>
          <c:orientation val="minMax"/>
          <c:max val="1.5E-3"/>
          <c:min val="-2E-3"/>
        </c:scaling>
        <c:delete val="0"/>
        <c:axPos val="l"/>
        <c:majorGridlines>
          <c:spPr>
            <a:ln w="12700" cap="flat">
              <a:solidFill>
                <a:srgbClr val="E6E6E6"/>
              </a:solidFill>
              <a:prstDash val="solid"/>
              <a:round/>
            </a:ln>
          </c:spPr>
        </c:majorGridlines>
        <c:numFmt formatCode="0.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Δ vs OLS</c:v>
                </c:pt>
              </c:strCache>
            </c:strRef>
          </c:tx>
          <c:spPr>
            <a:ln w="38100" cap="flat">
              <a:solidFill>
                <a:srgbClr val="127C71"/>
              </a:solidFill>
              <a:prstDash val="solid"/>
              <a:round/>
            </a:ln>
            <a:effectLst/>
          </c:spPr>
          <c:marker>
            <c:symbol val="circle"/>
            <c:size val="8"/>
            <c:spPr>
              <a:solidFill>
                <a:srgbClr val="127C71"/>
              </a:solidFill>
              <a:ln w="9525" cap="flat">
                <a:solidFill>
                  <a:srgbClr val="127C71"/>
                </a:solidFill>
                <a:prstDash val="solid"/>
                <a:round/>
              </a:ln>
              <a:effectLst/>
            </c:spPr>
          </c:marker>
          <c:cat>
            <c:strRef>
              <c:f>Sheet1!$A$2:$A$7</c:f>
              <c:strCache>
                <c:ptCount val="6"/>
                <c:pt idx="0">
                  <c:v>0.5</c:v>
                </c:pt>
                <c:pt idx="1">
                  <c:v>1.0</c:v>
                </c:pt>
                <c:pt idx="2">
                  <c:v>1.5</c:v>
                </c:pt>
                <c:pt idx="3">
                  <c:v>2.0</c:v>
                </c:pt>
                <c:pt idx="4">
                  <c:v>2.5</c:v>
                </c:pt>
                <c:pt idx="5">
                  <c:v>3.0</c:v>
                </c:pt>
              </c:strCache>
            </c:strRef>
          </c:cat>
          <c:val>
            <c:numRef>
              <c:f>Sheet1!$B$2:$B$7</c:f>
              <c:numCache>
                <c:formatCode>General</c:formatCode>
                <c:ptCount val="6"/>
                <c:pt idx="0">
                  <c:v>4.0000000000000003E-5</c:v>
                </c:pt>
                <c:pt idx="1">
                  <c:v>7.7999999999999999E-4</c:v>
                </c:pt>
                <c:pt idx="2">
                  <c:v>1.1299999999999999E-3</c:v>
                </c:pt>
                <c:pt idx="3">
                  <c:v>1.01E-3</c:v>
                </c:pt>
                <c:pt idx="4">
                  <c:v>-5.5999999999999995E-4</c:v>
                </c:pt>
                <c:pt idx="5">
                  <c:v>-1.65E-3</c:v>
                </c:pt>
              </c:numCache>
            </c:numRef>
          </c:val>
          <c:smooth val="0"/>
          <c:extLst>
            <c:ext xmlns:c16="http://schemas.microsoft.com/office/drawing/2014/chart" uri="{C3380CC4-5D6E-409C-BE32-E72D297353CC}">
              <c16:uniqueId val="{00000000-8904-1448-9268-855208A241C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D6D7E"/>
                    </a:solidFill>
                    <a:latin typeface="Calibri"/>
                  </a:defRPr>
                </a:pPr>
                <a:r>
                  <a:rPr lang="en-US" sz="1100" b="0" i="0" u="none" strike="noStrike">
                    <a:solidFill>
                      <a:srgbClr val="5D6D7E"/>
                    </a:solidFill>
                    <a:latin typeface="Calibri"/>
                  </a:rPr>
                  <a:t>|t| threshold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D6D7E"/>
                </a:solidFill>
                <a:latin typeface="Calibri"/>
              </a:defRPr>
            </a:pPr>
            <a:endParaRPr lang="en-US"/>
          </a:p>
        </c:txPr>
        <c:crossAx val="2094734552"/>
        <c:crosses val="autoZero"/>
        <c:auto val="1"/>
        <c:lblAlgn val="ctr"/>
        <c:lblOffset val="100"/>
        <c:noMultiLvlLbl val="1"/>
      </c:catAx>
      <c:valAx>
        <c:axId val="2094734552"/>
        <c:scaling>
          <c:orientation val="minMax"/>
          <c:max val="1.5E-3"/>
          <c:min val="-2E-3"/>
        </c:scaling>
        <c:delete val="0"/>
        <c:axPos val="l"/>
        <c:majorGridlines>
          <c:spPr>
            <a:ln w="12700" cap="flat">
              <a:solidFill>
                <a:srgbClr val="E4E9F0"/>
              </a:solidFill>
              <a:prstDash val="solid"/>
              <a:round/>
            </a:ln>
          </c:spPr>
        </c:majorGridlines>
        <c:numFmt formatCode="0.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D7E"/>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9029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
Good morning. My name is Praful Maka, and this is my regression case study for MSCS-2202.
The setup: 20 anonymous numeric features, no column names, no domain context. 2,500 rows to train on, 2,500 to predict, scored by R-squared. No feature engineering intuition is available, because we do not know what anything means.
Frame the takeaway up front: the interesting part of this project was not the modelling. It was discovering that my measurement was too noisy to tell my models apart, and fixing that first. That reframing is what the talk is about.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(~90 sec)
Walk down the table. Every model family lands within about 0.0004 of plain OLS. Ridge, BayesianRidge, a voting ensemble, LassoCV -- essentially nothing. The submitted model gains +0.00116, which is roughly three times the best model-family change.
Say the punchline plainly: the data is linear plus heavy-tailed noise. Feature selection beat every algorithm change combined.
The two methodological points are the real contribution. Pooled out-of-fold predictions instead of averaged per-fold scores, and paired comparison on identical folds. Slide 5 shows why that mattered.
Calibrate the audience on scale with the 0.00217 number: the entire public leaderboard, top to bottom, spans about 0.002. So a gain of 0.0011 is roughly half the whole competitive field. These are small numbers, but they are not trivial numbers.
If asked "is 0.001 worth caring about?" -- answer: at this spread, yes, and the method for detecting it is the transferable part.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(~60 sec)
Quick orientation slide. Do not read the table -- point at the two rows that constrain the design.
Missingness: about 10% of rows have at least one missing value, and it is symmetric across train and test. That rules out complete-case analysis. Dropping those rows throws away a tenth of the training data, and more importantly leaves 254 test rows I still have to score somehow.
So imputation is mandatory. And critically, the imputer has to be fit inside each CV fold -- fitting it on the full training set leaks information about the validation rows into the model.
KS tests show no distribution shift between train and test, so I can trust cross-validation as a proxy for the leaderboard.
Transition: the features turn out to be well behaved. The target is where the trouble 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 HEAVY TAILS (~75 sec)
This is the most important diagnostic slide. Everything downstream follows from it.
The features are almost suspiciously clean: Gaussian, mutually uncorrelated, no multicollinearity. That is why Ridge and OLS give nearly identical answers -- there is no correlated structure for a penalty to stabilize.
Now contrast with the target. Symmetric, so not a log-transform problem. But excess kurtosis of 9.93, and the OLS residuals come in at 28.3. For reference, a normal distribution has excess kurtosis of zero.
The number to land on: 49 rows -- 2% of the data -- carry about 55% of all squared error. Half of my entire loss comes from 49 observations.
Say it out loud: R-squared is decided by those 49 rows. Keep that in mind for experiment 3, because it explains the most counterintuitive result in the deck.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RANKING AND THE x3 TRAP (~75 sec)
Ranked by absolute t-statistic on standardized features -- not by raw correlation. Three clean bands.
Ten strong features, four moderate, six that are statistically indistinguishable from noise. Note the gap: the moderate band bottoms out at 2.5, the noise band tops out at 1.44. That gap is clean and it is what makes the threshold on slide 9 stable from fold to fold.
Now the trap, and this is the part I would flag to anyone doing this kind of work. x3 has a correlation of roughly zero with the target. Ranked by correlation, you drop it immediately.
But its standard deviation is 1.87, while the other features sit around 14. Its effect per unit is real, its scale is just small -- so the correlation is diluted while the t-statistic is not. Its t is 2.51, and dropping it costs about 0.0009 R-squared, which is most of my final gain.
Rule: rank by standardized coefficients or t-statistics. Raw correlation is scale-dependent and will mislead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1 -- FIX THE MEASUREMENT (~90 sec)
This is the turning point of the project, so slow down here.
The problem: every linear candidate scored 0.536 plus or minus some fourth-decimal noise. I could not tell whether they were genuinely tied or whether my ruler was too blunt to measure the difference.
The diagnosis: I was averaging 50 per-fold R-squared values. Fold-to-fold standard deviation was about 0.049 -- almost 5% -- because whichever extreme rows happened to land in a fold dominated that fold's score. I was mostly measuring the random fold assignment, not the model.
Two fixes. First, pooled out-of-fold: assemble one prediction vector across all 2,500 rows and score it once. That matches how the test set is actually scored, and it removes the variance from averaging noisy per-fold numbers.
Second, paired comparison: run every candidate on identical folds and report the standard error of the paired difference. The fold noise is common to both models, so it cancels.
Result: resolution went from about 0.05 to about 0.0002. Roughly a 250-fold improvement -- and only then could I see anything.
Emphasize: I did not tune a single hyperparameter until this was done. That ordering was the single highest-leverage decision in the project.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2 -- DOES CAPACITY HELP? (~75 sec)
Reasonable hypothesis going in: heavy tails plus unknown feature semantics could mean nonlinearity or interactions I cannot see.
The chart says no, and not narrowly. Degree-2 polynomial features drop to 0.460. Gradient boosting drops to 0.447. Both are meaningfully worse than plain OLS at 0.536 -- they are overfitting noise.
But "worse on CV" is weak evidence. It could just mean I tuned them badly. So I ran a cleaner test.
I built the full quadratic expansion -- 20 linear terms plus 210 quadratic and interaction terms -- then penalized only the 210 nonlinear terms and left the linear terms unpenalized. Then I swept that penalty upward.
Read the table: the score improves monotonically as the penalty rises, and it converges exactly to the linear model. The optimal penalty is infinite.
That is a much stronger statement than "boosting did worse." It says the model, given a free choice, sets every nonlinear coefficient to zero. The generating process is linear. I stopped looking for curvature after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3 -- ROBUST REGRESSION BACKFIRES (~90 sec)
This is my favourite result because it is the one I got wrong going in.
Textbook reasoning: residual excess kurtosis of 28, so use a robust loss. Huber regression down-weights large residuals. This should obviously help.
It does the opposite, and monotonically. The most robust setting, epsilon 1.35, scores 0.481. As epsilon rises toward OLS behaviour, the score climbs back to 0.511, and plain OLS wins at 0.536. Every step toward robustness costs score.
I checked whether this was a convergence artifact -- it was not. Huber converged in 20 iterations at every setting.
The explanation is on slide 4. R-squared is a squared-error metric, and 2% of rows own 55% of that error. A robust loss deliberately gives up on exactly those rows -- so it is surrendering the part of the metric that decides the outcome. Concretely, Huber shrinks x17's standardized coefficient from 58.5 down to 21.9. It is not fitting the signal any more.
The general lesson: robustness helps when outliers are corruption -- bad sensors, data entry errors. Here they are legitimate draws from a heavy-tailed distribution, and the metric demands you chase them. Match the loss to the metric, not to the residual distribution.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4 -- FOUR LEADS THAT DIED (~75 sec)
I want to show the failures, not just the win, because the pattern matters more than any individual result.
Monotone nonlinearity: Spearman exceeded Pearson for 8 of 20 features. Looked like a rank relationship. But winsorizing the target moved Pearson onto Spearman -- the gap was purely the outliers, not curvature.
Outliers as amplified signal: for extreme rows, y was roughly 3.95 times the prediction. Looked like heteroscedasticity worth modelling. But a plain homoscedastic-noise simulation reproduced the same effect -- it is a selection artifact of conditioning on extreme rows, not a real pattern.
Informative missingness: 10 of 20 columns showed different target means when the value was missing. But with about 25 missing rows per column, the standard error is around 30. That is pure multiple-testing noise -- test 20 columns and half will look interesting.
Leakage: id correlated 0.02 with the target, worth a check. Contiguous random split, no duplicates. Clean.
Also ruled out: IterativeImputer matched simple mean imputation to four decimals -- exactly as it should, since the features are mutually uncorrelated, so there is nothing to impute from.
The common thread: each of these was killed by a specific test, not by an argument. That is the discipline I would want to be judged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ACTUALLY WORKED (~90 sec)
The reasoning: OLS pays a variance cost for every coefficient it estimates. If a feature carries no signal, estimating its coefficient adds noise to every single prediction without adding anything back. Six features have t below 1.5. Drop them.
Read the sweep. There is a clear peak at threshold 1.5: +0.00113 with a standard error of 0.0002, so about a 5.5 sigma effect. That is roughly three times larger than LassoCV's gain, which came from a whole different model family.
And it explains LassoCV. Its +0.0004 comes entirely from zeroing x9 and x11 -- two of the same noise features. Lasso was doing a weaker version of the same thing.
Past 2.0, the curve turns over and goes negative. That is where I start cutting into real signal -- specifically, that is where x3 is lost, which ties back to slide 4.
The critical methodological point: this selection was validated nested inside each fold. Selecting features on the full training set and then cross-validating reported roughly double this gain -- that estimate was leakage, and I kept both numbers in the notebook deliberately.
If asked why not just use Lasso: Lasso's shrinkage is coupled to its selection. Hard-thresholding on t and then fitting an unpenalized ridge separates the two decisions, and the sweep shows the separation is worth about 0.0007.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MODEL (~75 sec)
The pipeline: mean imputation, standardization, drop the six features below t of 1.5 -- x1, x5, x8, x9, x11, x12 -- then ridge with alpha 17. Every step fit inside the CV folds.
One robustness choice: rather than committing to threshold 1.5 exactly, I average predictions across 1.0, 1.5 and 2.0. The sweep is flat across that range, and averaging protects me if the peak location is itself noise.
Now the honest part, which I think matters more than the number. The public leaderboard covers 48% of the test set. Final standings use the other 52%. My gain of 0.0011 over roughly 1,200 rows should clear the baseline, but not comfortably. At this scale, the difference between any two reasonable models is largely luck of the split.
So the closing decision rule: submit the model with the best nested out-of-fold estimate, not the one that happened to score best on the public half. The public half is a sample of 1,200 rows with the same heavy tails as everything else -- selecting on it is just overfitting one more time, on a smaller sample.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(~60 sec)
Four things I would tell someone starting this problem.
One: fix the measurement before tuning the model. My default protocol could not detect anything below 0.05, and the entire result lives at 0.001. I was tuning inside my own noise floor.
Two: check whether your validation is honest. The leaky feature-selection estimate was twice the real one. If I had reported that number I would have believed my own mistake -- and both numbers are in the notebook on purpose.
Three: prefer the test that can falsify. "Robust losses should help with kurtosis 28" is an argument, and it happened to be wrong. Sweeping epsilon and watching the score fall monotonically is a result.
Four: complexity was never the answer. Trees, polynomials, interactions, robust losses, fancier imputation -- all lost. The winning move was removing six columns.
Close on the line: in noisy competitions, honest evaluation beats clever modeling.
Then: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4D190-CD49-2A35-0458-C5EB114B3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FEE88-CA64-3C86-1159-2D7CA7751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880890-E7B4-C331-2DE7-39CBFE3265C4}"/>
              </a:ext>
            </a:extLst>
          </p:cNvPr>
          <p:cNvSpPr>
            <a:spLocks noGrp="1"/>
          </p:cNvSpPr>
          <p:nvPr>
            <p:ph type="body" idx="1"/>
          </p:nvPr>
        </p:nvSpPr>
        <p:spPr/>
        <p:txBody>
          <a:bodyPr/>
          <a:lstStyle/>
          <a:p>
            <a:r>
              <a:rPr lang="en-US" dirty="0"/>
              <a:t>OPENING (~30 sec)
Good morning. My name is Praful Maka, and this is my regression case study for MSCS-2202.
The setup: 20 anonymous numeric features, no column names, no domain context. 2,500 rows to train on, 2,500 to predict, scored by R-squared. No feature engineering intuition is available, because we do not know what anything means.
Frame the takeaway up front: the interesting part of this project was not the modelling. It was discovering that my measurement was too noisy to tell my models apart, and fixing that first. That reframing is what the talk is about.</a:t>
            </a:r>
          </a:p>
        </p:txBody>
      </p:sp>
      <p:sp>
        <p:nvSpPr>
          <p:cNvPr id="4" name="Slide Number Placeholder 3">
            <a:extLst>
              <a:ext uri="{FF2B5EF4-FFF2-40B4-BE49-F238E27FC236}">
                <a16:creationId xmlns:a16="http://schemas.microsoft.com/office/drawing/2014/main" id="{80850D9D-93E8-45B6-3E1C-047AD27F95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5017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a:effectLst/>
      </p:bgPr>
    </p:bg>
    <p:spTree>
      <p:nvGrpSpPr>
        <p:cNvPr id="1" name=""/>
        <p:cNvGrpSpPr/>
        <p:nvPr/>
      </p:nvGrpSpPr>
      <p:grpSpPr>
        <a:xfrm>
          <a:off x="0" y="0"/>
          <a:ext cx="0" cy="0"/>
          <a:chOff x="0" y="0"/>
          <a:chExt cx="0" cy="0"/>
        </a:xfrm>
      </p:grpSpPr>
      <p:sp>
        <p:nvSpPr>
          <p:cNvPr id="3" name="Shape 0"/>
          <p:cNvSpPr/>
          <p:nvPr/>
        </p:nvSpPr>
        <p:spPr>
          <a:xfrm>
            <a:off x="8869680" y="-1224871"/>
            <a:ext cx="5120640" cy="5120640"/>
          </a:xfrm>
          <a:prstGeom prst="ellipse">
            <a:avLst/>
          </a:prstGeom>
          <a:solidFill>
            <a:schemeClr val="accent1">
              <a:lumMod val="60000"/>
              <a:lumOff val="40000"/>
              <a:alpha val="70000"/>
            </a:schemeClr>
          </a:solidFill>
          <a:ln w="12700">
            <a:solidFill>
              <a:srgbClr val="2E2E2E">
                <a:alpha val="0"/>
              </a:srgbClr>
            </a:solidFill>
            <a:prstDash val="solid"/>
          </a:ln>
        </p:spPr>
        <p:txBody>
          <a:bodyPr/>
          <a:lstStyle/>
          <a:p>
            <a:endParaRPr lang="en-US" dirty="0"/>
          </a:p>
        </p:txBody>
      </p:sp>
      <p:sp>
        <p:nvSpPr>
          <p:cNvPr id="4" name="Shape 1"/>
          <p:cNvSpPr/>
          <p:nvPr/>
        </p:nvSpPr>
        <p:spPr>
          <a:xfrm>
            <a:off x="10152678" y="4155198"/>
            <a:ext cx="3108960" cy="3108960"/>
          </a:xfrm>
          <a:prstGeom prst="ellipse">
            <a:avLst/>
          </a:prstGeom>
          <a:solidFill>
            <a:schemeClr val="accent1">
              <a:lumMod val="60000"/>
              <a:lumOff val="40000"/>
              <a:alpha val="40000"/>
            </a:schemeClr>
          </a:solidFill>
          <a:ln w="12700">
            <a:solidFill>
              <a:srgbClr val="5C5C5C">
                <a:alpha val="0"/>
              </a:srgbClr>
            </a:solidFill>
            <a:prstDash val="solid"/>
          </a:ln>
        </p:spPr>
        <p:txBody>
          <a:bodyPr/>
          <a:lstStyle/>
          <a:p>
            <a:endParaRPr lang="en-US"/>
          </a:p>
        </p:txBody>
      </p:sp>
      <p:grpSp>
        <p:nvGrpSpPr>
          <p:cNvPr id="12" name="Group 11">
            <a:extLst>
              <a:ext uri="{FF2B5EF4-FFF2-40B4-BE49-F238E27FC236}">
                <a16:creationId xmlns:a16="http://schemas.microsoft.com/office/drawing/2014/main" id="{B32311EA-83BD-FD1E-8EF2-9E1FE78325CE}"/>
              </a:ext>
            </a:extLst>
          </p:cNvPr>
          <p:cNvGrpSpPr/>
          <p:nvPr/>
        </p:nvGrpSpPr>
        <p:grpSpPr>
          <a:xfrm>
            <a:off x="197761" y="326634"/>
            <a:ext cx="9144000" cy="6159973"/>
            <a:chOff x="548640" y="316001"/>
            <a:chExt cx="9144000" cy="6159973"/>
          </a:xfrm>
        </p:grpSpPr>
        <p:sp>
          <p:nvSpPr>
            <p:cNvPr id="5" name="Text 2"/>
            <p:cNvSpPr txBox="1"/>
            <p:nvPr/>
          </p:nvSpPr>
          <p:spPr>
            <a:xfrm>
              <a:off x="548640" y="1168521"/>
              <a:ext cx="9144000" cy="274320"/>
            </a:xfrm>
            <a:prstGeom prst="rect">
              <a:avLst/>
            </a:prstGeom>
            <a:noFill/>
            <a:ln/>
          </p:spPr>
          <p:txBody>
            <a:bodyPr wrap="square" lIns="0" tIns="0" rIns="0" bIns="0" rtlCol="0" anchor="ctr"/>
            <a:lstStyle/>
            <a:p>
              <a:pPr marL="0" indent="0" algn="ctr">
                <a:buNone/>
              </a:pPr>
              <a:r>
                <a:rPr lang="en-US" sz="1200" b="1" kern="0" spc="200" dirty="0">
                  <a:solidFill>
                    <a:srgbClr val="B5B5B5"/>
                  </a:solidFill>
                  <a:latin typeface="Calibri" pitchFamily="34" charset="0"/>
                  <a:ea typeface="Calibri" pitchFamily="34" charset="-122"/>
                  <a:cs typeface="Calibri" pitchFamily="34" charset="-120"/>
                </a:rPr>
                <a:t>SOFIA UNIVERSITY  ·  PALO ALTO, CALIFORNIA</a:t>
              </a:r>
              <a:endParaRPr lang="en-US" sz="1200" dirty="0"/>
            </a:p>
          </p:txBody>
        </p:sp>
        <p:sp>
          <p:nvSpPr>
            <p:cNvPr id="6" name="Text 3"/>
            <p:cNvSpPr txBox="1"/>
            <p:nvPr/>
          </p:nvSpPr>
          <p:spPr>
            <a:xfrm>
              <a:off x="731520" y="1508760"/>
              <a:ext cx="8778240" cy="1783080"/>
            </a:xfrm>
            <a:prstGeom prst="rect">
              <a:avLst/>
            </a:prstGeom>
            <a:noFill/>
            <a:ln/>
          </p:spPr>
          <p:txBody>
            <a:bodyPr wrap="square" lIns="0" tIns="0" rIns="0" bIns="0" rtlCol="0" anchor="ctr"/>
            <a:lstStyle/>
            <a:p>
              <a:pPr marL="0" indent="0" algn="ctr">
                <a:lnSpc>
                  <a:spcPts val="5000"/>
                </a:lnSpc>
                <a:buNone/>
              </a:pPr>
              <a:r>
                <a:rPr lang="en-US" sz="4600" b="1" dirty="0">
                  <a:solidFill>
                    <a:srgbClr val="FFFFFF"/>
                  </a:solidFill>
                  <a:latin typeface="Cambria" pitchFamily="34" charset="0"/>
                  <a:ea typeface="Cambria" pitchFamily="34" charset="-122"/>
                  <a:cs typeface="Cambria" pitchFamily="34" charset="-120"/>
                </a:rPr>
                <a:t>Regression on 20</a:t>
              </a:r>
              <a:endParaRPr lang="en-US" sz="4600" dirty="0"/>
            </a:p>
            <a:p>
              <a:pPr marL="0" indent="0" algn="ctr">
                <a:lnSpc>
                  <a:spcPts val="5000"/>
                </a:lnSpc>
                <a:buNone/>
              </a:pPr>
              <a:r>
                <a:rPr lang="en-US" sz="4600" b="1" dirty="0">
                  <a:solidFill>
                    <a:srgbClr val="FFFFFF"/>
                  </a:solidFill>
                  <a:latin typeface="Cambria" pitchFamily="34" charset="0"/>
                  <a:ea typeface="Cambria" pitchFamily="34" charset="-122"/>
                  <a:cs typeface="Cambria" pitchFamily="34" charset="-120"/>
                </a:rPr>
                <a:t>Anonymous Features</a:t>
              </a:r>
              <a:endParaRPr lang="en-US" sz="4600" dirty="0"/>
            </a:p>
          </p:txBody>
        </p:sp>
        <p:sp>
          <p:nvSpPr>
            <p:cNvPr id="7" name="Text 4"/>
            <p:cNvSpPr txBox="1"/>
            <p:nvPr/>
          </p:nvSpPr>
          <p:spPr>
            <a:xfrm>
              <a:off x="731520" y="3401568"/>
              <a:ext cx="8778240" cy="384048"/>
            </a:xfrm>
            <a:prstGeom prst="rect">
              <a:avLst/>
            </a:prstGeom>
            <a:noFill/>
            <a:ln/>
          </p:spPr>
          <p:txBody>
            <a:bodyPr wrap="square" lIns="0" tIns="0" rIns="0" bIns="0" rtlCol="0" anchor="ctr"/>
            <a:lstStyle/>
            <a:p>
              <a:pPr marL="0" indent="0" algn="ctr">
                <a:buNone/>
              </a:pPr>
              <a:r>
                <a:rPr lang="en-US" sz="1900" i="1" dirty="0">
                  <a:solidFill>
                    <a:srgbClr val="BFBFBF"/>
                  </a:solidFill>
                  <a:latin typeface="Calibri" pitchFamily="34" charset="0"/>
                  <a:ea typeface="Calibri" pitchFamily="34" charset="-122"/>
                  <a:cs typeface="Calibri" pitchFamily="34" charset="-120"/>
                </a:rPr>
                <a:t>Why honest evaluation beat clever modeling</a:t>
              </a:r>
              <a:endParaRPr lang="en-US" sz="1900" dirty="0"/>
            </a:p>
          </p:txBody>
        </p:sp>
        <p:grpSp>
          <p:nvGrpSpPr>
            <p:cNvPr id="14" name="Group 13">
              <a:extLst>
                <a:ext uri="{FF2B5EF4-FFF2-40B4-BE49-F238E27FC236}">
                  <a16:creationId xmlns:a16="http://schemas.microsoft.com/office/drawing/2014/main" id="{5BA876C3-43DE-EF66-C1A0-2E87BA507301}"/>
                </a:ext>
              </a:extLst>
            </p:cNvPr>
            <p:cNvGrpSpPr/>
            <p:nvPr/>
          </p:nvGrpSpPr>
          <p:grpSpPr>
            <a:xfrm>
              <a:off x="3017520" y="4881727"/>
              <a:ext cx="4206240" cy="1594247"/>
              <a:chOff x="6470973" y="4020800"/>
              <a:chExt cx="4206240" cy="1594247"/>
            </a:xfrm>
          </p:grpSpPr>
          <p:sp>
            <p:nvSpPr>
              <p:cNvPr id="10" name="Text 7"/>
              <p:cNvSpPr txBox="1"/>
              <p:nvPr/>
            </p:nvSpPr>
            <p:spPr>
              <a:xfrm>
                <a:off x="6608133" y="4883527"/>
                <a:ext cx="3931920" cy="731520"/>
              </a:xfrm>
              <a:prstGeom prst="rect">
                <a:avLst/>
              </a:prstGeom>
              <a:noFill/>
              <a:ln/>
            </p:spPr>
            <p:txBody>
              <a:bodyPr wrap="square" lIns="0" tIns="0" rIns="0" bIns="0" rtlCol="0" anchor="ctr"/>
              <a:lstStyle/>
              <a:p>
                <a:pPr marL="0" indent="0" algn="ctr">
                  <a:lnSpc>
                    <a:spcPts val="2400"/>
                  </a:lnSpc>
                  <a:buNone/>
                </a:pPr>
                <a:r>
                  <a:rPr lang="en-US" sz="1100" b="1" kern="0" spc="150" dirty="0">
                    <a:solidFill>
                      <a:srgbClr val="9C9C9C"/>
                    </a:solidFill>
                    <a:latin typeface="Calibri" pitchFamily="34" charset="0"/>
                    <a:ea typeface="Calibri" pitchFamily="34" charset="-122"/>
                    <a:cs typeface="Calibri" pitchFamily="34" charset="-120"/>
                  </a:rPr>
                  <a:t>PRESENTED BY</a:t>
                </a:r>
                <a:endParaRPr lang="en-US" sz="1100" dirty="0"/>
              </a:p>
              <a:p>
                <a:pPr marL="0" indent="0" algn="ctr">
                  <a:lnSpc>
                    <a:spcPts val="2400"/>
                  </a:lnSpc>
                  <a:buNone/>
                </a:pPr>
                <a:r>
                  <a:rPr lang="en-US" sz="2400" b="1" dirty="0">
                    <a:solidFill>
                      <a:srgbClr val="FFFFFF"/>
                    </a:solidFill>
                    <a:latin typeface="Calibri" pitchFamily="34" charset="0"/>
                    <a:ea typeface="Calibri" pitchFamily="34" charset="-122"/>
                    <a:cs typeface="Calibri" pitchFamily="34" charset="-120"/>
                  </a:rPr>
                  <a:t>Praful Maka</a:t>
                </a:r>
                <a:endParaRPr lang="en-US" sz="1100" dirty="0"/>
              </a:p>
            </p:txBody>
          </p:sp>
          <p:sp>
            <p:nvSpPr>
              <p:cNvPr id="11" name="Text 8"/>
              <p:cNvSpPr txBox="1"/>
              <p:nvPr/>
            </p:nvSpPr>
            <p:spPr>
              <a:xfrm>
                <a:off x="6470973" y="4020800"/>
                <a:ext cx="4206240" cy="731520"/>
              </a:xfrm>
              <a:prstGeom prst="rect">
                <a:avLst/>
              </a:prstGeom>
              <a:noFill/>
              <a:ln/>
            </p:spPr>
            <p:txBody>
              <a:bodyPr wrap="square" lIns="0" tIns="0" rIns="0" bIns="0" rtlCol="0" anchor="ctr"/>
              <a:lstStyle/>
              <a:p>
                <a:pPr marL="0" indent="0" algn="ctr">
                  <a:lnSpc>
                    <a:spcPts val="2400"/>
                  </a:lnSpc>
                  <a:buNone/>
                </a:pPr>
                <a:r>
                  <a:rPr lang="en-US" sz="1100" b="1" kern="0" spc="150" dirty="0">
                    <a:solidFill>
                      <a:srgbClr val="9C9C9C"/>
                    </a:solidFill>
                    <a:latin typeface="Calibri" pitchFamily="34" charset="0"/>
                    <a:ea typeface="Calibri" pitchFamily="34" charset="-122"/>
                    <a:cs typeface="Calibri" pitchFamily="34" charset="-120"/>
                  </a:rPr>
                  <a:t>INSTRUCTOR</a:t>
                </a:r>
                <a:endParaRPr lang="en-US" sz="1100" dirty="0"/>
              </a:p>
              <a:p>
                <a:pPr marL="0" indent="0" algn="ctr">
                  <a:lnSpc>
                    <a:spcPts val="2400"/>
                  </a:lnSpc>
                  <a:buNone/>
                </a:pPr>
                <a:r>
                  <a:rPr lang="en-US" sz="2400" b="1" dirty="0">
                    <a:solidFill>
                      <a:srgbClr val="FFFFFF"/>
                    </a:solidFill>
                    <a:latin typeface="Calibri" pitchFamily="34" charset="0"/>
                    <a:ea typeface="Calibri" pitchFamily="34" charset="-122"/>
                    <a:cs typeface="Calibri" pitchFamily="34" charset="-120"/>
                  </a:rPr>
                  <a:t>Dr. Alex Petiushko</a:t>
                </a:r>
                <a:endParaRPr lang="en-US" sz="1100" dirty="0"/>
              </a:p>
            </p:txBody>
          </p:sp>
        </p:grpSp>
        <p:pic>
          <p:nvPicPr>
            <p:cNvPr id="13" name="Picture 12">
              <a:extLst>
                <a:ext uri="{FF2B5EF4-FFF2-40B4-BE49-F238E27FC236}">
                  <a16:creationId xmlns:a16="http://schemas.microsoft.com/office/drawing/2014/main" id="{B7DA61A2-3969-DAA7-58AE-2D676ED10A9C}"/>
                </a:ext>
              </a:extLst>
            </p:cNvPr>
            <p:cNvPicPr>
              <a:picLocks noChangeAspect="1"/>
            </p:cNvPicPr>
            <p:nvPr/>
          </p:nvPicPr>
          <p:blipFill>
            <a:blip r:embed="rId3"/>
            <a:stretch>
              <a:fillRect/>
            </a:stretch>
          </p:blipFill>
          <p:spPr>
            <a:xfrm>
              <a:off x="4033396" y="316001"/>
              <a:ext cx="2174488" cy="713232"/>
            </a:xfrm>
            <a:prstGeom prst="rect">
              <a:avLst/>
            </a:prstGeom>
          </p:spPr>
        </p:pic>
        <p:sp>
          <p:nvSpPr>
            <p:cNvPr id="2" name="Text 8">
              <a:extLst>
                <a:ext uri="{FF2B5EF4-FFF2-40B4-BE49-F238E27FC236}">
                  <a16:creationId xmlns:a16="http://schemas.microsoft.com/office/drawing/2014/main" id="{22AFC37D-FB7C-00F0-B02C-47BE344A2C85}"/>
                </a:ext>
              </a:extLst>
            </p:cNvPr>
            <p:cNvSpPr txBox="1"/>
            <p:nvPr/>
          </p:nvSpPr>
          <p:spPr>
            <a:xfrm>
              <a:off x="3017520" y="4087834"/>
              <a:ext cx="4206240" cy="731520"/>
            </a:xfrm>
            <a:prstGeom prst="rect">
              <a:avLst/>
            </a:prstGeom>
            <a:noFill/>
            <a:ln/>
          </p:spPr>
          <p:txBody>
            <a:bodyPr wrap="square" lIns="0" tIns="0" rIns="0" bIns="0" rtlCol="0" anchor="ctr"/>
            <a:lstStyle/>
            <a:p>
              <a:pPr marL="0" indent="0" algn="ctr">
                <a:lnSpc>
                  <a:spcPts val="2400"/>
                </a:lnSpc>
                <a:buNone/>
              </a:pPr>
              <a:r>
                <a:rPr lang="en-US" sz="2400" b="1" dirty="0">
                  <a:solidFill>
                    <a:srgbClr val="FFFFFF"/>
                  </a:solidFill>
                  <a:latin typeface="Calibri" pitchFamily="34" charset="0"/>
                  <a:ea typeface="Calibri" pitchFamily="34" charset="-122"/>
                  <a:cs typeface="Calibri" pitchFamily="34" charset="-120"/>
                </a:rPr>
                <a:t>MSCS-2202 . Machine Learning</a:t>
              </a:r>
              <a:endParaRPr lang="en-US" sz="11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EXECUTIVE SUMMARY  ·  01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The result in one slide</a:t>
            </a:r>
            <a:endParaRPr lang="en-US" sz="3000" dirty="0"/>
          </a:p>
        </p:txBody>
      </p:sp>
      <p:sp>
        <p:nvSpPr>
          <p:cNvPr id="5" name="Text 2"/>
          <p:cNvSpPr txBox="1"/>
          <p:nvPr/>
        </p:nvSpPr>
        <p:spPr>
          <a:xfrm>
            <a:off x="548640" y="1225296"/>
            <a:ext cx="11094415" cy="274320"/>
          </a:xfrm>
          <a:prstGeom prst="rect">
            <a:avLst/>
          </a:prstGeom>
          <a:noFill/>
          <a:ln/>
        </p:spPr>
        <p:txBody>
          <a:bodyPr wrap="square" lIns="0" tIns="0" rIns="0" bIns="0" rtlCol="0" anchor="ctr"/>
          <a:lstStyle/>
          <a:p>
            <a:pPr marL="0" indent="0">
              <a:buNone/>
            </a:pPr>
            <a:r>
              <a:rPr lang="en-US" sz="1350" dirty="0">
                <a:solidFill>
                  <a:srgbClr val="6B6B6B"/>
                </a:solidFill>
                <a:latin typeface="Calibri" pitchFamily="34" charset="0"/>
                <a:ea typeface="Calibri" pitchFamily="34" charset="-122"/>
                <a:cs typeface="Calibri" pitchFamily="34" charset="-120"/>
              </a:rPr>
              <a:t>Predict a continuous target from 20 anonymous features. 2,500 train / 2,500 test, scored by R².</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5623560" cy="2002536"/>
        </p:xfrm>
        <a:graphic>
          <a:graphicData uri="http://schemas.openxmlformats.org/drawingml/2006/table">
            <a:tbl>
              <a:tblPr/>
              <a:tblGrid>
                <a:gridCol w="28803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3375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Pooled OOF R²</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Δ vs OLS</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extLst>
                  <a:ext uri="{0D108BD9-81ED-4DB2-BD59-A6C34878D82A}">
                    <a16:rowId xmlns:a16="http://schemas.microsoft.com/office/drawing/2014/main" val="10000"/>
                  </a:ext>
                </a:extLst>
              </a:tr>
              <a:tr h="333756">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OLS, all 20 features</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0.53154</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6B6B6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1"/>
                  </a:ext>
                </a:extLst>
              </a:tr>
              <a:tr h="333756">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Ridge / BayesianRidge</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0.53160</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+0.00005</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2"/>
                  </a:ext>
                </a:extLst>
              </a:tr>
              <a:tr h="333756">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Voting ensemble</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0.53176</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+0.00021</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3"/>
                  </a:ext>
                </a:extLst>
              </a:tr>
              <a:tr h="333756">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LassoCV</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0.53193</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+0.00039</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4"/>
                  </a:ext>
                </a:extLst>
              </a:tr>
              <a:tr h="333756">
                <a:tc>
                  <a:txBody>
                    <a:bodyPr/>
                    <a:lstStyle/>
                    <a:p>
                      <a:pPr marL="0" indent="0">
                        <a:buNone/>
                      </a:pPr>
                      <a:r>
                        <a:rPr lang="en-US" sz="1200" b="1" dirty="0">
                          <a:solidFill>
                            <a:srgbClr val="121212"/>
                          </a:solidFill>
                          <a:latin typeface="Calibri" pitchFamily="34" charset="0"/>
                          <a:ea typeface="Calibri" pitchFamily="34" charset="-122"/>
                          <a:cs typeface="Calibri" pitchFamily="34" charset="-120"/>
                        </a:rPr>
                        <a:t>|t|-selection + ridge  (submitted)</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b="1" dirty="0">
                          <a:solidFill>
                            <a:srgbClr val="121212"/>
                          </a:solidFill>
                          <a:latin typeface="Calibri" pitchFamily="34" charset="0"/>
                          <a:ea typeface="Calibri" pitchFamily="34" charset="-122"/>
                          <a:cs typeface="Calibri" pitchFamily="34" charset="-120"/>
                        </a:rPr>
                        <a:t>0.53270</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b="1" dirty="0">
                          <a:solidFill>
                            <a:srgbClr val="121212"/>
                          </a:solidFill>
                          <a:latin typeface="Calibri" pitchFamily="34" charset="0"/>
                          <a:ea typeface="Calibri" pitchFamily="34" charset="-122"/>
                          <a:cs typeface="Calibri" pitchFamily="34" charset="-120"/>
                        </a:rPr>
                        <a:t>+0.00116</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5"/>
                  </a:ext>
                </a:extLst>
              </a:tr>
            </a:tbl>
          </a:graphicData>
        </a:graphic>
      </p:graphicFrame>
      <p:sp>
        <p:nvSpPr>
          <p:cNvPr id="7" name="Shape 3"/>
          <p:cNvSpPr/>
          <p:nvPr/>
        </p:nvSpPr>
        <p:spPr>
          <a:xfrm>
            <a:off x="548640" y="4160520"/>
            <a:ext cx="5623560" cy="1783080"/>
          </a:xfrm>
          <a:prstGeom prst="roundRect">
            <a:avLst>
              <a:gd name="adj" fmla="val 4103"/>
            </a:avLst>
          </a:prstGeom>
          <a:solidFill>
            <a:srgbClr val="EAEAEA"/>
          </a:solidFill>
          <a:ln w="12700">
            <a:solidFill>
              <a:srgbClr val="EAEAEA"/>
            </a:solidFill>
            <a:prstDash val="solid"/>
          </a:ln>
          <a:effectLst>
            <a:outerShdw blurRad="101600" dist="12700" dir="5400000" algn="bl" rotWithShape="0">
              <a:srgbClr val="AAAAAA">
                <a:alpha val="18000"/>
              </a:srgbClr>
            </a:outerShdw>
          </a:effectLst>
        </p:spPr>
        <p:txBody>
          <a:bodyPr/>
          <a:lstStyle/>
          <a:p>
            <a:endParaRPr lang="en-US"/>
          </a:p>
        </p:txBody>
      </p:sp>
      <p:sp>
        <p:nvSpPr>
          <p:cNvPr id="8" name="Text 4"/>
          <p:cNvSpPr txBox="1"/>
          <p:nvPr/>
        </p:nvSpPr>
        <p:spPr>
          <a:xfrm>
            <a:off x="804672" y="4343400"/>
            <a:ext cx="5120640" cy="1417320"/>
          </a:xfrm>
          <a:prstGeom prst="rect">
            <a:avLst/>
          </a:prstGeom>
          <a:noFill/>
          <a:ln/>
        </p:spPr>
        <p:txBody>
          <a:bodyPr wrap="square" lIns="0" tIns="0" rIns="0" bIns="0" rtlCol="0" anchor="t"/>
          <a:lstStyle/>
          <a:p>
            <a:pPr marL="0" indent="0">
              <a:lnSpc>
                <a:spcPts val="1900"/>
              </a:lnSpc>
              <a:buNone/>
            </a:pPr>
            <a:r>
              <a:rPr lang="en-US" sz="1300" b="1" dirty="0">
                <a:solidFill>
                  <a:srgbClr val="121212"/>
                </a:solidFill>
                <a:latin typeface="Calibri" pitchFamily="34" charset="0"/>
                <a:ea typeface="Calibri" pitchFamily="34" charset="-122"/>
                <a:cs typeface="Calibri" pitchFamily="34" charset="-120"/>
              </a:rPr>
              <a:t>The data is linear plus heavy-tailed noise.  </a:t>
            </a:r>
            <a:r>
              <a:rPr lang="en-US" sz="1300" dirty="0">
                <a:solidFill>
                  <a:srgbClr val="121212"/>
                </a:solidFill>
                <a:latin typeface="Calibri" pitchFamily="34" charset="0"/>
                <a:ea typeface="Calibri" pitchFamily="34" charset="-122"/>
                <a:cs typeface="Calibri" pitchFamily="34" charset="-120"/>
              </a:rPr>
              <a:t>Nearly every modelling idea beyond least squares is a dead end. The one consistently useful move is removing features: six of 20 are statistically indistinguishable from noise, and dropping them is worth +0.0011 R² — more than every model-family change combined.</a:t>
            </a:r>
            <a:endParaRPr lang="en-US" sz="1300" dirty="0"/>
          </a:p>
        </p:txBody>
      </p:sp>
      <p:sp>
        <p:nvSpPr>
          <p:cNvPr id="9" name="Shape 5"/>
          <p:cNvSpPr/>
          <p:nvPr/>
        </p:nvSpPr>
        <p:spPr>
          <a:xfrm>
            <a:off x="6446520" y="1664208"/>
            <a:ext cx="5196535" cy="2331720"/>
          </a:xfrm>
          <a:prstGeom prst="roundRect">
            <a:avLst>
              <a:gd name="adj" fmla="val 3137"/>
            </a:avLst>
          </a:prstGeom>
          <a:solidFill>
            <a:srgbClr val="FFFFFF"/>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10" name="Text 6"/>
          <p:cNvSpPr txBox="1"/>
          <p:nvPr/>
        </p:nvSpPr>
        <p:spPr>
          <a:xfrm>
            <a:off x="6702552" y="1847088"/>
            <a:ext cx="4684471" cy="292608"/>
          </a:xfrm>
          <a:prstGeom prst="rect">
            <a:avLst/>
          </a:prstGeom>
          <a:noFill/>
          <a:ln/>
        </p:spPr>
        <p:txBody>
          <a:bodyPr wrap="square" lIns="0" tIns="0" rIns="0" bIns="0" rtlCol="0" anchor="ctr"/>
          <a:lstStyle/>
          <a:p>
            <a:pPr marL="0" indent="0">
              <a:buNone/>
            </a:pPr>
            <a:r>
              <a:rPr lang="en-US" sz="1350" b="1" dirty="0">
                <a:solidFill>
                  <a:srgbClr val="121212"/>
                </a:solidFill>
                <a:latin typeface="Calibri" pitchFamily="34" charset="0"/>
                <a:ea typeface="Calibri" pitchFamily="34" charset="-122"/>
                <a:cs typeface="Calibri" pitchFamily="34" charset="-120"/>
              </a:rPr>
              <a:t>Two methodological points carried the result</a:t>
            </a:r>
            <a:endParaRPr lang="en-US" sz="1350" dirty="0"/>
          </a:p>
        </p:txBody>
      </p:sp>
      <p:sp>
        <p:nvSpPr>
          <p:cNvPr id="11" name="Shape 7"/>
          <p:cNvSpPr/>
          <p:nvPr/>
        </p:nvSpPr>
        <p:spPr>
          <a:xfrm>
            <a:off x="6702552" y="2276856"/>
            <a:ext cx="329184" cy="329184"/>
          </a:xfrm>
          <a:prstGeom prst="ellipse">
            <a:avLst/>
          </a:prstGeom>
          <a:solidFill>
            <a:srgbClr val="4F4F4F"/>
          </a:solidFill>
          <a:ln w="12700">
            <a:solidFill>
              <a:srgbClr val="4F4F4F"/>
            </a:solidFill>
            <a:prstDash val="solid"/>
          </a:ln>
        </p:spPr>
        <p:txBody>
          <a:bodyPr/>
          <a:lstStyle/>
          <a:p>
            <a:endParaRPr lang="en-US"/>
          </a:p>
        </p:txBody>
      </p:sp>
      <p:sp>
        <p:nvSpPr>
          <p:cNvPr id="12" name="Text 8"/>
          <p:cNvSpPr txBox="1"/>
          <p:nvPr/>
        </p:nvSpPr>
        <p:spPr>
          <a:xfrm>
            <a:off x="6702552" y="22768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9"/>
          <p:cNvSpPr txBox="1"/>
          <p:nvPr/>
        </p:nvSpPr>
        <p:spPr>
          <a:xfrm>
            <a:off x="7159752" y="2240280"/>
            <a:ext cx="4190695" cy="731520"/>
          </a:xfrm>
          <a:prstGeom prst="rect">
            <a:avLst/>
          </a:prstGeom>
          <a:noFill/>
          <a:ln/>
        </p:spPr>
        <p:txBody>
          <a:bodyPr wrap="square" lIns="0" tIns="0" rIns="0" bIns="0" rtlCol="0" anchor="ctr"/>
          <a:lstStyle/>
          <a:p>
            <a:pPr marL="0" indent="0">
              <a:lnSpc>
                <a:spcPts val="1800"/>
              </a:lnSpc>
              <a:buNone/>
            </a:pPr>
            <a:r>
              <a:rPr lang="en-US" sz="1300" dirty="0">
                <a:solidFill>
                  <a:srgbClr val="121212"/>
                </a:solidFill>
                <a:latin typeface="Calibri" pitchFamily="34" charset="0"/>
                <a:ea typeface="Calibri" pitchFamily="34" charset="-122"/>
                <a:cs typeface="Calibri" pitchFamily="34" charset="-120"/>
              </a:rPr>
              <a:t>Average pooled out-of-fold predictions, and compare paired models on identical folds.</a:t>
            </a:r>
            <a:endParaRPr lang="en-US" sz="1300" dirty="0"/>
          </a:p>
        </p:txBody>
      </p:sp>
      <p:sp>
        <p:nvSpPr>
          <p:cNvPr id="14" name="Shape 10"/>
          <p:cNvSpPr/>
          <p:nvPr/>
        </p:nvSpPr>
        <p:spPr>
          <a:xfrm>
            <a:off x="6702552" y="3118104"/>
            <a:ext cx="329184" cy="329184"/>
          </a:xfrm>
          <a:prstGeom prst="ellipse">
            <a:avLst/>
          </a:prstGeom>
          <a:solidFill>
            <a:srgbClr val="4F4F4F"/>
          </a:solidFill>
          <a:ln w="12700">
            <a:solidFill>
              <a:srgbClr val="4F4F4F"/>
            </a:solidFill>
            <a:prstDash val="solid"/>
          </a:ln>
        </p:spPr>
        <p:txBody>
          <a:bodyPr/>
          <a:lstStyle/>
          <a:p>
            <a:endParaRPr lang="en-US"/>
          </a:p>
        </p:txBody>
      </p:sp>
      <p:sp>
        <p:nvSpPr>
          <p:cNvPr id="15" name="Text 11"/>
          <p:cNvSpPr txBox="1"/>
          <p:nvPr/>
        </p:nvSpPr>
        <p:spPr>
          <a:xfrm>
            <a:off x="6702552" y="31181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2"/>
          <p:cNvSpPr txBox="1"/>
          <p:nvPr/>
        </p:nvSpPr>
        <p:spPr>
          <a:xfrm>
            <a:off x="7159752" y="3081528"/>
            <a:ext cx="4190695" cy="731520"/>
          </a:xfrm>
          <a:prstGeom prst="rect">
            <a:avLst/>
          </a:prstGeom>
          <a:noFill/>
          <a:ln/>
        </p:spPr>
        <p:txBody>
          <a:bodyPr wrap="square" lIns="0" tIns="0" rIns="0" bIns="0" rtlCol="0" anchor="ctr"/>
          <a:lstStyle/>
          <a:p>
            <a:pPr marL="0" indent="0">
              <a:lnSpc>
                <a:spcPts val="1800"/>
              </a:lnSpc>
              <a:buNone/>
            </a:pPr>
            <a:r>
              <a:rPr lang="en-US" sz="1300" dirty="0">
                <a:solidFill>
                  <a:srgbClr val="121212"/>
                </a:solidFill>
                <a:latin typeface="Calibri" pitchFamily="34" charset="0"/>
                <a:ea typeface="Calibri" pitchFamily="34" charset="-122"/>
                <a:cs typeface="Calibri" pitchFamily="34" charset="-120"/>
              </a:rPr>
              <a:t>Validate feature selection nested inside each fold — full-data selection reports leakage.</a:t>
            </a:r>
            <a:endParaRPr lang="en-US" sz="1300" dirty="0"/>
          </a:p>
        </p:txBody>
      </p:sp>
      <p:sp>
        <p:nvSpPr>
          <p:cNvPr id="17" name="Shape 13"/>
          <p:cNvSpPr/>
          <p:nvPr/>
        </p:nvSpPr>
        <p:spPr>
          <a:xfrm>
            <a:off x="6446520" y="4160520"/>
            <a:ext cx="5196535" cy="1783080"/>
          </a:xfrm>
          <a:prstGeom prst="roundRect">
            <a:avLst>
              <a:gd name="adj" fmla="val 4103"/>
            </a:avLst>
          </a:prstGeom>
          <a:solidFill>
            <a:schemeClr val="accent1">
              <a:lumMod val="75000"/>
            </a:schemeClr>
          </a:solidFill>
          <a:ln w="12700">
            <a:solidFill>
              <a:srgbClr val="121212"/>
            </a:solidFill>
            <a:prstDash val="solid"/>
          </a:ln>
          <a:effectLst>
            <a:outerShdw blurRad="101600" dist="12700" dir="5400000" algn="bl" rotWithShape="0">
              <a:srgbClr val="AAAAAA">
                <a:alpha val="18000"/>
              </a:srgbClr>
            </a:outerShdw>
          </a:effectLst>
        </p:spPr>
        <p:txBody>
          <a:bodyPr/>
          <a:lstStyle/>
          <a:p>
            <a:endParaRPr lang="en-US"/>
          </a:p>
        </p:txBody>
      </p:sp>
      <p:sp>
        <p:nvSpPr>
          <p:cNvPr id="18" name="Text 14"/>
          <p:cNvSpPr txBox="1"/>
          <p:nvPr/>
        </p:nvSpPr>
        <p:spPr>
          <a:xfrm>
            <a:off x="6702552" y="4370832"/>
            <a:ext cx="4684471" cy="658368"/>
          </a:xfrm>
          <a:prstGeom prst="rect">
            <a:avLst/>
          </a:prstGeom>
          <a:noFill/>
          <a:ln/>
        </p:spPr>
        <p:txBody>
          <a:bodyPr wrap="square" lIns="0" tIns="0" rIns="0" bIns="0" rtlCol="0" anchor="ctr"/>
          <a:lstStyle/>
          <a:p>
            <a:pPr marL="0" indent="0">
              <a:buNone/>
            </a:pPr>
            <a:r>
              <a:rPr lang="en-US" sz="4200" b="1" dirty="0">
                <a:solidFill>
                  <a:srgbClr val="D9D9D9"/>
                </a:solidFill>
                <a:latin typeface="Cambria" pitchFamily="34" charset="0"/>
                <a:ea typeface="Cambria" pitchFamily="34" charset="-122"/>
                <a:cs typeface="Cambria" pitchFamily="34" charset="-120"/>
              </a:rPr>
              <a:t>0.00217</a:t>
            </a:r>
            <a:endParaRPr lang="en-US" sz="4200" dirty="0"/>
          </a:p>
        </p:txBody>
      </p:sp>
      <p:sp>
        <p:nvSpPr>
          <p:cNvPr id="19" name="Text 15"/>
          <p:cNvSpPr txBox="1"/>
          <p:nvPr/>
        </p:nvSpPr>
        <p:spPr>
          <a:xfrm>
            <a:off x="6702552" y="5074920"/>
            <a:ext cx="4684471" cy="731520"/>
          </a:xfrm>
          <a:prstGeom prst="rect">
            <a:avLst/>
          </a:prstGeom>
          <a:noFill/>
          <a:ln/>
        </p:spPr>
        <p:txBody>
          <a:bodyPr wrap="square" lIns="0" tIns="0" rIns="0" bIns="0" rtlCol="0" anchor="ctr"/>
          <a:lstStyle/>
          <a:p>
            <a:pPr marL="0" indent="0">
              <a:lnSpc>
                <a:spcPts val="1700"/>
              </a:lnSpc>
              <a:buNone/>
            </a:pPr>
            <a:r>
              <a:rPr lang="en-US" sz="1250" dirty="0">
                <a:solidFill>
                  <a:srgbClr val="C4C4C4"/>
                </a:solidFill>
                <a:latin typeface="Calibri" pitchFamily="34" charset="0"/>
                <a:ea typeface="Calibri" pitchFamily="34" charset="-122"/>
                <a:cs typeface="Calibri" pitchFamily="34" charset="-120"/>
              </a:rPr>
              <a:t>Total spread of the public leaderboard. The gain reported here is roughly half that entire spread.</a:t>
            </a:r>
            <a:endParaRPr lang="en-US" sz="1250" dirty="0"/>
          </a:p>
        </p:txBody>
      </p:sp>
      <p:sp>
        <p:nvSpPr>
          <p:cNvPr id="20" name="Text 16"/>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21" name="Text 17"/>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2</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THE DATASET  ·  02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The data at a glance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2743200"/>
        </p:xfrm>
        <a:graphic>
          <a:graphicData uri="http://schemas.openxmlformats.org/drawingml/2006/table">
            <a:tbl>
              <a:tblPr/>
              <a:tblGrid>
                <a:gridCol w="1600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 / interpretation</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Features</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20 anonymous numeric features, x0–x19</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Rows</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2,500 train and 2,500 test; ids are a contiguous 0–4,999 random split</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Missingness</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~10% of rows have ≥1 missing value: 246 train / 254 test</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Never missing</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Train vs test</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Two-sample KS tests show no meaningful shift</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5"/>
                  </a:ext>
                </a:extLst>
              </a:tr>
            </a:tbl>
          </a:graphicData>
        </a:graphic>
      </p:graphicFrame>
      <p:sp>
        <p:nvSpPr>
          <p:cNvPr id="6" name="Shape 2"/>
          <p:cNvSpPr/>
          <p:nvPr/>
        </p:nvSpPr>
        <p:spPr>
          <a:xfrm>
            <a:off x="548640" y="4343400"/>
            <a:ext cx="6720840" cy="1600200"/>
          </a:xfrm>
          <a:prstGeom prst="roundRect">
            <a:avLst>
              <a:gd name="adj" fmla="val 4571"/>
            </a:avLst>
          </a:prstGeom>
          <a:solidFill>
            <a:schemeClr val="accent1">
              <a:lumMod val="60000"/>
              <a:lumOff val="40000"/>
            </a:schemeClr>
          </a:solidFill>
          <a:ln w="12700">
            <a:solidFill>
              <a:srgbClr val="EAEAEA"/>
            </a:solidFill>
            <a:prstDash val="solid"/>
          </a:ln>
          <a:effectLst>
            <a:outerShdw blurRad="101600" dist="12700" dir="5400000" algn="bl" rotWithShape="0">
              <a:srgbClr val="AAAAAA">
                <a:alpha val="18000"/>
              </a:srgbClr>
            </a:outerShdw>
          </a:effectLst>
        </p:spPr>
        <p:txBody>
          <a:bodyPr/>
          <a:lstStyle/>
          <a:p>
            <a:endParaRPr lang="en-US"/>
          </a:p>
        </p:txBody>
      </p:sp>
      <p:sp>
        <p:nvSpPr>
          <p:cNvPr id="7" name="Text 3"/>
          <p:cNvSpPr txBox="1"/>
          <p:nvPr/>
        </p:nvSpPr>
        <p:spPr>
          <a:xfrm>
            <a:off x="804672" y="4526280"/>
            <a:ext cx="6217920" cy="1280160"/>
          </a:xfrm>
          <a:prstGeom prst="rect">
            <a:avLst/>
          </a:prstGeom>
          <a:noFill/>
          <a:ln/>
        </p:spPr>
        <p:txBody>
          <a:bodyPr wrap="square" lIns="0" tIns="0" rIns="0" bIns="0" rtlCol="0" anchor="ctr"/>
          <a:lstStyle/>
          <a:p>
            <a:pPr marL="0" indent="0">
              <a:lnSpc>
                <a:spcPts val="1900"/>
              </a:lnSpc>
              <a:buNone/>
            </a:pPr>
            <a:r>
              <a:rPr lang="en-US" sz="1400" kern="0" spc="100" dirty="0">
                <a:solidFill>
                  <a:srgbClr val="121212"/>
                </a:solidFill>
                <a:latin typeface="Calibri" pitchFamily="34" charset="0"/>
                <a:ea typeface="Calibri" pitchFamily="34" charset="-122"/>
                <a:cs typeface="Calibri" pitchFamily="34" charset="-120"/>
              </a:rPr>
              <a:t>Consequence   </a:t>
            </a:r>
            <a:endParaRPr lang="en-US" sz="1400" dirty="0"/>
          </a:p>
          <a:p>
            <a:pPr marL="0" indent="0">
              <a:lnSpc>
                <a:spcPts val="1900"/>
              </a:lnSpc>
              <a:buNone/>
            </a:pPr>
            <a:r>
              <a:rPr lang="en-US" sz="1400" dirty="0">
                <a:solidFill>
                  <a:srgbClr val="121212"/>
                </a:solidFill>
                <a:latin typeface="Calibri" pitchFamily="34" charset="0"/>
                <a:ea typeface="Calibri" pitchFamily="34" charset="-122"/>
                <a:cs typeface="Calibri" pitchFamily="34" charset="-120"/>
              </a:rPr>
              <a:t>Rows cannot simply be dropped. Complete-case analysis removes ~10% of training data and leaves ~254 test rows unscorable. Imputation is mandatory, and it must be fit inside the CV pipeline to avoid leakage.</a:t>
            </a:r>
            <a:endParaRPr lang="en-US" sz="1400" dirty="0"/>
          </a:p>
        </p:txBody>
      </p:sp>
      <p:sp>
        <p:nvSpPr>
          <p:cNvPr id="8" name="Shape 4"/>
          <p:cNvSpPr/>
          <p:nvPr/>
        </p:nvSpPr>
        <p:spPr>
          <a:xfrm>
            <a:off x="7635240" y="1417320"/>
            <a:ext cx="4007815" cy="1965960"/>
          </a:xfrm>
          <a:prstGeom prst="roundRect">
            <a:avLst>
              <a:gd name="adj" fmla="val 3721"/>
            </a:avLst>
          </a:prstGeom>
          <a:solidFill>
            <a:srgbClr val="FFFFFF"/>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9" name="Text 5"/>
          <p:cNvSpPr txBox="1"/>
          <p:nvPr/>
        </p:nvSpPr>
        <p:spPr>
          <a:xfrm>
            <a:off x="7909560" y="1600200"/>
            <a:ext cx="3459175" cy="640080"/>
          </a:xfrm>
          <a:prstGeom prst="rect">
            <a:avLst/>
          </a:prstGeom>
          <a:noFill/>
          <a:ln/>
        </p:spPr>
        <p:txBody>
          <a:bodyPr wrap="square" lIns="0" tIns="0" rIns="0" bIns="0" rtlCol="0" anchor="ctr"/>
          <a:lstStyle/>
          <a:p>
            <a:r>
              <a:rPr lang="en-US" sz="4000" b="1" dirty="0">
                <a:solidFill>
                  <a:srgbClr val="C97B1E"/>
                </a:solidFill>
                <a:latin typeface="Cambria" pitchFamily="34" charset="0"/>
              </a:rPr>
              <a:t>~10%</a:t>
            </a:r>
          </a:p>
        </p:txBody>
      </p:sp>
      <p:sp>
        <p:nvSpPr>
          <p:cNvPr id="10" name="Text 6"/>
          <p:cNvSpPr txBox="1"/>
          <p:nvPr/>
        </p:nvSpPr>
        <p:spPr>
          <a:xfrm>
            <a:off x="7909560" y="2286000"/>
            <a:ext cx="3459175" cy="914400"/>
          </a:xfrm>
          <a:prstGeom prst="rect">
            <a:avLst/>
          </a:prstGeom>
          <a:noFill/>
          <a:ln/>
        </p:spPr>
        <p:txBody>
          <a:bodyPr wrap="square" lIns="0" tIns="0" rIns="0" bIns="0" rtlCol="0" anchor="ctr"/>
          <a:lstStyle/>
          <a:p>
            <a:pPr marL="0" indent="0">
              <a:lnSpc>
                <a:spcPts val="1800"/>
              </a:lnSpc>
              <a:buNone/>
            </a:pPr>
            <a:r>
              <a:rPr lang="en-US" sz="1300" dirty="0">
                <a:solidFill>
                  <a:srgbClr val="121212"/>
                </a:solidFill>
                <a:latin typeface="Calibri" pitchFamily="34" charset="0"/>
                <a:ea typeface="Calibri" pitchFamily="34" charset="-122"/>
                <a:cs typeface="Calibri" pitchFamily="34" charset="-120"/>
              </a:rPr>
              <a:t>of all rows carry at least one missing cell — evenly split between train and test.</a:t>
            </a:r>
            <a:endParaRPr lang="en-US" sz="1300" dirty="0"/>
          </a:p>
        </p:txBody>
      </p:sp>
      <p:sp>
        <p:nvSpPr>
          <p:cNvPr id="11" name="Shape 7"/>
          <p:cNvSpPr/>
          <p:nvPr/>
        </p:nvSpPr>
        <p:spPr>
          <a:xfrm>
            <a:off x="7635240" y="3566160"/>
            <a:ext cx="4007815" cy="2377440"/>
          </a:xfrm>
          <a:prstGeom prst="roundRect">
            <a:avLst>
              <a:gd name="adj" fmla="val 3077"/>
            </a:avLst>
          </a:prstGeom>
          <a:solidFill>
            <a:srgbClr val="FFFFFF"/>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12" name="Text 8"/>
          <p:cNvSpPr txBox="1"/>
          <p:nvPr/>
        </p:nvSpPr>
        <p:spPr>
          <a:xfrm>
            <a:off x="7909560" y="3749040"/>
            <a:ext cx="3459175" cy="640080"/>
          </a:xfrm>
          <a:prstGeom prst="rect">
            <a:avLst/>
          </a:prstGeom>
          <a:noFill/>
          <a:ln/>
        </p:spPr>
        <p:txBody>
          <a:bodyPr wrap="square" lIns="0" tIns="0" rIns="0" bIns="0" rtlCol="0" anchor="ctr"/>
          <a:lstStyle/>
          <a:p>
            <a:r>
              <a:rPr lang="en-US" sz="4000" b="1" dirty="0">
                <a:solidFill>
                  <a:srgbClr val="127C71"/>
                </a:solidFill>
                <a:latin typeface="Cambria" pitchFamily="34" charset="0"/>
              </a:rPr>
              <a:t>20–30</a:t>
            </a:r>
          </a:p>
        </p:txBody>
      </p:sp>
      <p:sp>
        <p:nvSpPr>
          <p:cNvPr id="13" name="Text 9"/>
          <p:cNvSpPr txBox="1"/>
          <p:nvPr/>
        </p:nvSpPr>
        <p:spPr>
          <a:xfrm>
            <a:off x="7909560" y="4434840"/>
            <a:ext cx="3459175" cy="1280160"/>
          </a:xfrm>
          <a:prstGeom prst="rect">
            <a:avLst/>
          </a:prstGeom>
          <a:noFill/>
          <a:ln/>
        </p:spPr>
        <p:txBody>
          <a:bodyPr wrap="square" lIns="0" tIns="0" rIns="0" bIns="0" rtlCol="0" anchor="ctr"/>
          <a:lstStyle/>
          <a:p>
            <a:pPr marL="0" indent="0">
              <a:lnSpc>
                <a:spcPts val="1800"/>
              </a:lnSpc>
              <a:buNone/>
            </a:pPr>
            <a:r>
              <a:rPr lang="en-US" sz="1300" dirty="0">
                <a:solidFill>
                  <a:srgbClr val="121212"/>
                </a:solidFill>
                <a:latin typeface="Calibri" pitchFamily="34" charset="0"/>
                <a:ea typeface="Calibri" pitchFamily="34" charset="-122"/>
                <a:cs typeface="Calibri" pitchFamily="34" charset="-120"/>
              </a:rPr>
              <a:t>missing cells per feature column, spread evenly across both splits. No column is systematically broken, and no row pattern repeats.</a:t>
            </a:r>
            <a:endParaRPr lang="en-US" sz="1300" dirty="0"/>
          </a:p>
        </p:txBody>
      </p:sp>
      <p:sp>
        <p:nvSpPr>
          <p:cNvPr id="14" name="Text 10"/>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15" name="Text 11"/>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3</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DIAGNOSIS  ·  03</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Features are clean, the target is not</a:t>
            </a:r>
            <a:endParaRPr lang="en-US" sz="3000" dirty="0"/>
          </a:p>
        </p:txBody>
      </p:sp>
      <p:sp>
        <p:nvSpPr>
          <p:cNvPr id="5" name="Shape 2"/>
          <p:cNvSpPr/>
          <p:nvPr/>
        </p:nvSpPr>
        <p:spPr>
          <a:xfrm>
            <a:off x="548640" y="1417320"/>
            <a:ext cx="5806440" cy="3246120"/>
          </a:xfrm>
          <a:prstGeom prst="roundRect">
            <a:avLst>
              <a:gd name="adj" fmla="val 2254"/>
            </a:avLst>
          </a:prstGeom>
          <a:solidFill>
            <a:srgbClr val="FFFFFF"/>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6" name="Text 3"/>
          <p:cNvSpPr txBox="1"/>
          <p:nvPr/>
        </p:nvSpPr>
        <p:spPr>
          <a:xfrm>
            <a:off x="868680" y="1618210"/>
            <a:ext cx="5212080" cy="2834640"/>
          </a:xfrm>
          <a:prstGeom prst="rect">
            <a:avLst/>
          </a:prstGeom>
          <a:noFill/>
          <a:ln/>
        </p:spPr>
        <p:txBody>
          <a:bodyPr wrap="square" lIns="0" tIns="0" rIns="0" bIns="0" rtlCol="0" anchor="ctr"/>
          <a:lstStyle/>
          <a:p>
            <a:pPr marL="342900" indent="-342900">
              <a:lnSpc>
                <a:spcPts val="1900"/>
              </a:lnSpc>
              <a:spcAft>
                <a:spcPts val="1200"/>
              </a:spcAft>
              <a:buSzPct val="100000"/>
              <a:buChar char="•"/>
            </a:pPr>
            <a:r>
              <a:rPr lang="en-US" sz="1400" b="1" dirty="0">
                <a:solidFill>
                  <a:srgbClr val="121212"/>
                </a:solidFill>
                <a:latin typeface="Calibri" pitchFamily="34" charset="0"/>
                <a:ea typeface="Calibri" pitchFamily="34" charset="-122"/>
                <a:cs typeface="Calibri" pitchFamily="34" charset="-120"/>
              </a:rPr>
              <a:t>Features are textbook Gaussian and mutually uncorrelated; the maximum |r| between any two features is near zero.</a:t>
            </a:r>
            <a:endParaRPr lang="en-US" sz="1400" b="1" dirty="0"/>
          </a:p>
          <a:p>
            <a:pPr marL="342900" indent="-342900">
              <a:lnSpc>
                <a:spcPts val="1900"/>
              </a:lnSpc>
              <a:spcAft>
                <a:spcPts val="1200"/>
              </a:spcAft>
              <a:buSzPct val="100000"/>
              <a:buChar char="•"/>
            </a:pPr>
            <a:r>
              <a:rPr lang="en-US" sz="1400" b="1" dirty="0">
                <a:solidFill>
                  <a:srgbClr val="121212"/>
                </a:solidFill>
                <a:latin typeface="Calibri" pitchFamily="34" charset="0"/>
                <a:ea typeface="Calibri" pitchFamily="34" charset="-122"/>
                <a:cs typeface="Calibri" pitchFamily="34" charset="-120"/>
              </a:rPr>
              <a:t>No multicollinearity — Ridge ≈ OLS, and coefficients are stable across folds.</a:t>
            </a:r>
            <a:endParaRPr lang="en-US" sz="1400" b="1" dirty="0"/>
          </a:p>
          <a:p>
            <a:pPr marL="342900" indent="-342900">
              <a:lnSpc>
                <a:spcPts val="1900"/>
              </a:lnSpc>
              <a:spcAft>
                <a:spcPts val="1200"/>
              </a:spcAft>
              <a:buSzPct val="100000"/>
              <a:buChar char="•"/>
            </a:pPr>
            <a:r>
              <a:rPr lang="en-US" sz="1400" b="1" dirty="0">
                <a:solidFill>
                  <a:srgbClr val="121212"/>
                </a:solidFill>
                <a:latin typeface="Calibri" pitchFamily="34" charset="0"/>
                <a:ea typeface="Calibri" pitchFamily="34" charset="-122"/>
                <a:cs typeface="Calibri" pitchFamily="34" charset="-120"/>
              </a:rPr>
              <a:t>The target is symmetric but violently heavy-tailed; Shapiro–Wilk rejects normality outright.</a:t>
            </a:r>
            <a:endParaRPr lang="en-US" sz="1400" b="1" dirty="0"/>
          </a:p>
          <a:p>
            <a:pPr marL="342900" indent="-342900">
              <a:lnSpc>
                <a:spcPts val="1900"/>
              </a:lnSpc>
              <a:spcAft>
                <a:spcPts val="1200"/>
              </a:spcAft>
              <a:buSzPct val="100000"/>
              <a:buChar char="•"/>
            </a:pPr>
            <a:r>
              <a:rPr lang="en-US" sz="1400" b="1" dirty="0">
                <a:solidFill>
                  <a:srgbClr val="121212"/>
                </a:solidFill>
                <a:latin typeface="Calibri" pitchFamily="34" charset="0"/>
                <a:ea typeface="Calibri" pitchFamily="34" charset="-122"/>
                <a:cs typeface="Calibri" pitchFamily="34" charset="-120"/>
              </a:rPr>
              <a:t>49 rows — 2% of the data — carry roughly 55% of all squared error.</a:t>
            </a:r>
            <a:endParaRPr lang="en-US" sz="1400" b="1" dirty="0"/>
          </a:p>
        </p:txBody>
      </p:sp>
      <p:sp>
        <p:nvSpPr>
          <p:cNvPr id="7" name="Shape 4"/>
          <p:cNvSpPr/>
          <p:nvPr/>
        </p:nvSpPr>
        <p:spPr>
          <a:xfrm>
            <a:off x="6720840" y="1417320"/>
            <a:ext cx="2377440" cy="1463040"/>
          </a:xfrm>
          <a:prstGeom prst="roundRect">
            <a:avLst>
              <a:gd name="adj" fmla="val 5000"/>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8" name="Text 5"/>
          <p:cNvSpPr txBox="1"/>
          <p:nvPr/>
        </p:nvSpPr>
        <p:spPr>
          <a:xfrm>
            <a:off x="6922008" y="1563624"/>
            <a:ext cx="1975104" cy="548640"/>
          </a:xfrm>
          <a:prstGeom prst="rect">
            <a:avLst/>
          </a:prstGeom>
          <a:noFill/>
          <a:ln/>
        </p:spPr>
        <p:txBody>
          <a:bodyPr wrap="square" lIns="0" tIns="0" rIns="0" bIns="0" rtlCol="0" anchor="ctr"/>
          <a:lstStyle/>
          <a:p>
            <a:r>
              <a:rPr lang="en-US" sz="3000" b="1" dirty="0">
                <a:solidFill>
                  <a:srgbClr val="127C71"/>
                </a:solidFill>
                <a:latin typeface="Cambria" pitchFamily="34" charset="0"/>
              </a:rPr>
              <a:t>≈ 0</a:t>
            </a:r>
          </a:p>
        </p:txBody>
      </p:sp>
      <p:sp>
        <p:nvSpPr>
          <p:cNvPr id="9" name="Text 6"/>
          <p:cNvSpPr txBox="1"/>
          <p:nvPr/>
        </p:nvSpPr>
        <p:spPr>
          <a:xfrm>
            <a:off x="6922008" y="2148840"/>
            <a:ext cx="1975104" cy="621792"/>
          </a:xfrm>
          <a:prstGeom prst="rect">
            <a:avLst/>
          </a:prstGeom>
          <a:noFill/>
          <a:ln/>
        </p:spPr>
        <p:txBody>
          <a:bodyPr wrap="square" lIns="0" tIns="0" rIns="0" bIns="0" rtlCol="0" anchor="ctr"/>
          <a:lstStyle/>
          <a:p>
            <a:pPr marL="0" indent="0">
              <a:lnSpc>
                <a:spcPts val="1500"/>
              </a:lnSpc>
              <a:buNone/>
            </a:pPr>
            <a:r>
              <a:rPr lang="en-US" sz="1150" dirty="0">
                <a:solidFill>
                  <a:srgbClr val="6B6B6B"/>
                </a:solidFill>
                <a:latin typeface="Calibri" pitchFamily="34" charset="0"/>
                <a:ea typeface="Calibri" pitchFamily="34" charset="-122"/>
                <a:cs typeface="Calibri" pitchFamily="34" charset="-120"/>
              </a:rPr>
              <a:t>Feature excess kurtosis</a:t>
            </a:r>
            <a:endParaRPr lang="en-US" sz="1150" dirty="0"/>
          </a:p>
          <a:p>
            <a:pPr marL="0" indent="0">
              <a:lnSpc>
                <a:spcPts val="1500"/>
              </a:lnSpc>
              <a:buNone/>
            </a:pPr>
            <a:r>
              <a:rPr lang="en-US" sz="1150" dirty="0">
                <a:solidFill>
                  <a:srgbClr val="6B6B6B"/>
                </a:solidFill>
                <a:latin typeface="Calibri" pitchFamily="34" charset="0"/>
                <a:ea typeface="Calibri" pitchFamily="34" charset="-122"/>
                <a:cs typeface="Calibri" pitchFamily="34" charset="-120"/>
              </a:rPr>
              <a:t>(range −0.19 to +0.10)</a:t>
            </a:r>
            <a:endParaRPr lang="en-US" sz="1150" dirty="0"/>
          </a:p>
        </p:txBody>
      </p:sp>
      <p:sp>
        <p:nvSpPr>
          <p:cNvPr id="10" name="Shape 7"/>
          <p:cNvSpPr/>
          <p:nvPr/>
        </p:nvSpPr>
        <p:spPr>
          <a:xfrm>
            <a:off x="9326880" y="1417320"/>
            <a:ext cx="2377440" cy="1463040"/>
          </a:xfrm>
          <a:prstGeom prst="roundRect">
            <a:avLst>
              <a:gd name="adj" fmla="val 5000"/>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11" name="Text 8"/>
          <p:cNvSpPr txBox="1"/>
          <p:nvPr/>
        </p:nvSpPr>
        <p:spPr>
          <a:xfrm>
            <a:off x="9528048" y="1563624"/>
            <a:ext cx="1975104" cy="548640"/>
          </a:xfrm>
          <a:prstGeom prst="rect">
            <a:avLst/>
          </a:prstGeom>
          <a:noFill/>
          <a:ln/>
        </p:spPr>
        <p:txBody>
          <a:bodyPr wrap="square" lIns="0" tIns="0" rIns="0" bIns="0" rtlCol="0" anchor="ctr"/>
          <a:lstStyle/>
          <a:p>
            <a:r>
              <a:rPr lang="en-US" sz="3000" b="1" dirty="0">
                <a:solidFill>
                  <a:srgbClr val="127C71"/>
                </a:solidFill>
                <a:latin typeface="Cambria" pitchFamily="34" charset="0"/>
              </a:rPr>
              <a:t>−0.05</a:t>
            </a:r>
          </a:p>
        </p:txBody>
      </p:sp>
      <p:sp>
        <p:nvSpPr>
          <p:cNvPr id="12" name="Text 9"/>
          <p:cNvSpPr txBox="1"/>
          <p:nvPr/>
        </p:nvSpPr>
        <p:spPr>
          <a:xfrm>
            <a:off x="9528048" y="2148840"/>
            <a:ext cx="1975104" cy="621792"/>
          </a:xfrm>
          <a:prstGeom prst="rect">
            <a:avLst/>
          </a:prstGeom>
          <a:noFill/>
          <a:ln/>
        </p:spPr>
        <p:txBody>
          <a:bodyPr wrap="square" lIns="0" tIns="0" rIns="0" bIns="0" rtlCol="0" anchor="ctr"/>
          <a:lstStyle/>
          <a:p>
            <a:pPr marL="0" indent="0">
              <a:lnSpc>
                <a:spcPts val="1500"/>
              </a:lnSpc>
              <a:buNone/>
            </a:pPr>
            <a:r>
              <a:rPr lang="en-US" sz="1150" dirty="0">
                <a:solidFill>
                  <a:srgbClr val="6B6B6B"/>
                </a:solidFill>
                <a:latin typeface="Calibri" pitchFamily="34" charset="0"/>
                <a:ea typeface="Calibri" pitchFamily="34" charset="-122"/>
                <a:cs typeface="Calibri" pitchFamily="34" charset="-120"/>
              </a:rPr>
              <a:t>Target skew — symmetric,</a:t>
            </a:r>
            <a:endParaRPr lang="en-US" sz="1150" dirty="0"/>
          </a:p>
          <a:p>
            <a:pPr marL="0" indent="0">
              <a:lnSpc>
                <a:spcPts val="1500"/>
              </a:lnSpc>
              <a:buNone/>
            </a:pPr>
            <a:r>
              <a:rPr lang="en-US" sz="1150" dirty="0">
                <a:solidFill>
                  <a:srgbClr val="6B6B6B"/>
                </a:solidFill>
                <a:latin typeface="Calibri" pitchFamily="34" charset="0"/>
                <a:ea typeface="Calibri" pitchFamily="34" charset="-122"/>
                <a:cs typeface="Calibri" pitchFamily="34" charset="-120"/>
              </a:rPr>
              <a:t>not lopsided</a:t>
            </a:r>
            <a:endParaRPr lang="en-US" sz="1150" dirty="0"/>
          </a:p>
        </p:txBody>
      </p:sp>
      <p:sp>
        <p:nvSpPr>
          <p:cNvPr id="13" name="Shape 10"/>
          <p:cNvSpPr/>
          <p:nvPr/>
        </p:nvSpPr>
        <p:spPr>
          <a:xfrm>
            <a:off x="6720840" y="3108960"/>
            <a:ext cx="2377440" cy="1463040"/>
          </a:xfrm>
          <a:prstGeom prst="roundRect">
            <a:avLst>
              <a:gd name="adj" fmla="val 5000"/>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14" name="Text 11"/>
          <p:cNvSpPr txBox="1"/>
          <p:nvPr/>
        </p:nvSpPr>
        <p:spPr>
          <a:xfrm>
            <a:off x="6922008" y="3255264"/>
            <a:ext cx="1975104" cy="548640"/>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9.93</a:t>
            </a:r>
            <a:endParaRPr lang="en-US" sz="3000" dirty="0"/>
          </a:p>
        </p:txBody>
      </p:sp>
      <p:sp>
        <p:nvSpPr>
          <p:cNvPr id="15" name="Text 12"/>
          <p:cNvSpPr txBox="1"/>
          <p:nvPr/>
        </p:nvSpPr>
        <p:spPr>
          <a:xfrm>
            <a:off x="6922008" y="3840480"/>
            <a:ext cx="1975104" cy="621792"/>
          </a:xfrm>
          <a:prstGeom prst="rect">
            <a:avLst/>
          </a:prstGeom>
          <a:noFill/>
          <a:ln/>
        </p:spPr>
        <p:txBody>
          <a:bodyPr wrap="square" lIns="0" tIns="0" rIns="0" bIns="0" rtlCol="0" anchor="ctr"/>
          <a:lstStyle/>
          <a:p>
            <a:pPr marL="0" indent="0">
              <a:lnSpc>
                <a:spcPts val="1500"/>
              </a:lnSpc>
              <a:buNone/>
            </a:pPr>
            <a:r>
              <a:rPr lang="en-US" sz="1150" dirty="0">
                <a:solidFill>
                  <a:srgbClr val="6B6B6B"/>
                </a:solidFill>
                <a:latin typeface="Calibri" pitchFamily="34" charset="0"/>
                <a:ea typeface="Calibri" pitchFamily="34" charset="-122"/>
                <a:cs typeface="Calibri" pitchFamily="34" charset="-120"/>
              </a:rPr>
              <a:t>Target excess kurtosis</a:t>
            </a:r>
            <a:endParaRPr lang="en-US" sz="1150" dirty="0"/>
          </a:p>
        </p:txBody>
      </p:sp>
      <p:sp>
        <p:nvSpPr>
          <p:cNvPr id="16" name="Shape 13"/>
          <p:cNvSpPr/>
          <p:nvPr/>
        </p:nvSpPr>
        <p:spPr>
          <a:xfrm>
            <a:off x="9326880" y="3108960"/>
            <a:ext cx="2377440" cy="1463040"/>
          </a:xfrm>
          <a:prstGeom prst="roundRect">
            <a:avLst>
              <a:gd name="adj" fmla="val 5000"/>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17" name="Text 14"/>
          <p:cNvSpPr txBox="1"/>
          <p:nvPr/>
        </p:nvSpPr>
        <p:spPr>
          <a:xfrm>
            <a:off x="9528048" y="3255264"/>
            <a:ext cx="1975104" cy="548640"/>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28.3</a:t>
            </a:r>
            <a:endParaRPr lang="en-US" sz="3000" dirty="0"/>
          </a:p>
        </p:txBody>
      </p:sp>
      <p:sp>
        <p:nvSpPr>
          <p:cNvPr id="18" name="Text 15"/>
          <p:cNvSpPr txBox="1"/>
          <p:nvPr/>
        </p:nvSpPr>
        <p:spPr>
          <a:xfrm>
            <a:off x="9528048" y="3840480"/>
            <a:ext cx="1975104" cy="621792"/>
          </a:xfrm>
          <a:prstGeom prst="rect">
            <a:avLst/>
          </a:prstGeom>
          <a:noFill/>
          <a:ln/>
        </p:spPr>
        <p:txBody>
          <a:bodyPr wrap="square" lIns="0" tIns="0" rIns="0" bIns="0" rtlCol="0" anchor="ctr"/>
          <a:lstStyle/>
          <a:p>
            <a:pPr marL="0" indent="0">
              <a:lnSpc>
                <a:spcPts val="1500"/>
              </a:lnSpc>
              <a:buNone/>
            </a:pPr>
            <a:r>
              <a:rPr lang="en-US" sz="1150" dirty="0">
                <a:solidFill>
                  <a:srgbClr val="6B6B6B"/>
                </a:solidFill>
                <a:latin typeface="Calibri" pitchFamily="34" charset="0"/>
                <a:ea typeface="Calibri" pitchFamily="34" charset="-122"/>
                <a:cs typeface="Calibri" pitchFamily="34" charset="-120"/>
              </a:rPr>
              <a:t>OLS residual excess kurtosis</a:t>
            </a:r>
            <a:endParaRPr lang="en-US" sz="1150" dirty="0"/>
          </a:p>
        </p:txBody>
      </p:sp>
      <p:sp>
        <p:nvSpPr>
          <p:cNvPr id="19" name="Shape 16"/>
          <p:cNvSpPr/>
          <p:nvPr/>
        </p:nvSpPr>
        <p:spPr>
          <a:xfrm>
            <a:off x="548640" y="4892040"/>
            <a:ext cx="11094415" cy="1051560"/>
          </a:xfrm>
          <a:prstGeom prst="roundRect">
            <a:avLst>
              <a:gd name="adj" fmla="val 6957"/>
            </a:avLst>
          </a:prstGeom>
          <a:solidFill>
            <a:schemeClr val="accent1">
              <a:lumMod val="75000"/>
            </a:schemeClr>
          </a:solidFill>
          <a:ln w="12700">
            <a:solidFill>
              <a:srgbClr val="121212"/>
            </a:solidFill>
            <a:prstDash val="solid"/>
          </a:ln>
          <a:effectLst>
            <a:outerShdw blurRad="101600" dist="12700" dir="5400000" algn="bl" rotWithShape="0">
              <a:srgbClr val="AAAAAA">
                <a:alpha val="18000"/>
              </a:srgbClr>
            </a:outerShdw>
          </a:effectLst>
        </p:spPr>
        <p:txBody>
          <a:bodyPr/>
          <a:lstStyle/>
          <a:p>
            <a:endParaRPr lang="en-US"/>
          </a:p>
        </p:txBody>
      </p:sp>
      <p:sp>
        <p:nvSpPr>
          <p:cNvPr id="20" name="Text 17"/>
          <p:cNvSpPr txBox="1"/>
          <p:nvPr/>
        </p:nvSpPr>
        <p:spPr>
          <a:xfrm>
            <a:off x="868680" y="4892040"/>
            <a:ext cx="10454335" cy="10515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Most experimental results that follow are explained by the target's heavy tails — not by feature complexity.</a:t>
            </a:r>
            <a:endParaRPr lang="en-US" dirty="0"/>
          </a:p>
        </p:txBody>
      </p:sp>
      <p:sp>
        <p:nvSpPr>
          <p:cNvPr id="21" name="Text 18"/>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22" name="Text 19"/>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4</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FEATURE RANKING  ·  04</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Which features matter — and the x3 trap</a:t>
            </a:r>
            <a:endParaRPr lang="en-US" sz="3000" dirty="0"/>
          </a:p>
        </p:txBody>
      </p:sp>
      <p:sp>
        <p:nvSpPr>
          <p:cNvPr id="5" name="Text 2"/>
          <p:cNvSpPr txBox="1"/>
          <p:nvPr/>
        </p:nvSpPr>
        <p:spPr>
          <a:xfrm>
            <a:off x="548640" y="1225296"/>
            <a:ext cx="11094415" cy="274320"/>
          </a:xfrm>
          <a:prstGeom prst="rect">
            <a:avLst/>
          </a:prstGeom>
          <a:noFill/>
          <a:ln/>
        </p:spPr>
        <p:txBody>
          <a:bodyPr wrap="square" lIns="0" tIns="0" rIns="0" bIns="0" rtlCol="0" anchor="ctr"/>
          <a:lstStyle/>
          <a:p>
            <a:pPr marL="0" indent="0">
              <a:buNone/>
            </a:pPr>
            <a:r>
              <a:rPr lang="en-US" sz="1350" dirty="0">
                <a:solidFill>
                  <a:srgbClr val="6B6B6B"/>
                </a:solidFill>
                <a:latin typeface="Calibri" pitchFamily="34" charset="0"/>
                <a:ea typeface="Calibri" pitchFamily="34" charset="-122"/>
                <a:cs typeface="Calibri" pitchFamily="34" charset="-120"/>
              </a:rPr>
              <a:t>Ranked by |t| on standardized features:</a:t>
            </a:r>
            <a:endParaRPr lang="en-US" sz="1350" dirty="0"/>
          </a:p>
        </p:txBody>
      </p:sp>
      <p:sp>
        <p:nvSpPr>
          <p:cNvPr id="6" name="Shape 3"/>
          <p:cNvSpPr/>
          <p:nvPr/>
        </p:nvSpPr>
        <p:spPr>
          <a:xfrm>
            <a:off x="548640" y="1627632"/>
            <a:ext cx="6903720" cy="804672"/>
          </a:xfrm>
          <a:prstGeom prst="roundRect">
            <a:avLst>
              <a:gd name="adj" fmla="val 9091"/>
            </a:avLst>
          </a:prstGeom>
          <a:solidFill>
            <a:srgbClr val="121212"/>
          </a:solidFill>
          <a:ln w="12700">
            <a:solidFill>
              <a:srgbClr val="121212"/>
            </a:solidFill>
            <a:prstDash val="solid"/>
          </a:ln>
          <a:effectLst>
            <a:outerShdw blurRad="101600" dist="12700" dir="5400000" algn="bl" rotWithShape="0">
              <a:srgbClr val="AAAAAA">
                <a:alpha val="18000"/>
              </a:srgbClr>
            </a:outerShdw>
          </a:effectLst>
        </p:spPr>
        <p:txBody>
          <a:bodyPr/>
          <a:lstStyle/>
          <a:p>
            <a:endParaRPr lang="en-US"/>
          </a:p>
        </p:txBody>
      </p:sp>
      <p:sp>
        <p:nvSpPr>
          <p:cNvPr id="7" name="Text 4"/>
          <p:cNvSpPr txBox="1"/>
          <p:nvPr/>
        </p:nvSpPr>
        <p:spPr>
          <a:xfrm>
            <a:off x="822960" y="1627632"/>
            <a:ext cx="1753985" cy="8046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Strong</a:t>
            </a:r>
            <a:endParaRPr lang="en-US" sz="1400" dirty="0"/>
          </a:p>
        </p:txBody>
      </p:sp>
      <p:sp>
        <p:nvSpPr>
          <p:cNvPr id="8" name="Text 5"/>
          <p:cNvSpPr txBox="1"/>
          <p:nvPr/>
        </p:nvSpPr>
        <p:spPr>
          <a:xfrm>
            <a:off x="2715491" y="1627632"/>
            <a:ext cx="3090949" cy="8046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x17, x16, x0, x4, x13, x2, x6, x18, x14, x19</a:t>
            </a:r>
            <a:endParaRPr lang="en-US" sz="1400" dirty="0"/>
          </a:p>
        </p:txBody>
      </p:sp>
      <p:sp>
        <p:nvSpPr>
          <p:cNvPr id="9" name="Text 6"/>
          <p:cNvSpPr txBox="1"/>
          <p:nvPr/>
        </p:nvSpPr>
        <p:spPr>
          <a:xfrm>
            <a:off x="6080759" y="1627632"/>
            <a:ext cx="1248295" cy="804672"/>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|t| = 10.8 – 28.8</a:t>
            </a:r>
            <a:endParaRPr lang="en-US" sz="1400" dirty="0"/>
          </a:p>
        </p:txBody>
      </p:sp>
      <p:sp>
        <p:nvSpPr>
          <p:cNvPr id="10" name="Shape 7"/>
          <p:cNvSpPr/>
          <p:nvPr/>
        </p:nvSpPr>
        <p:spPr>
          <a:xfrm>
            <a:off x="548640" y="2587752"/>
            <a:ext cx="6903720" cy="804672"/>
          </a:xfrm>
          <a:prstGeom prst="roundRect">
            <a:avLst>
              <a:gd name="adj" fmla="val 9091"/>
            </a:avLst>
          </a:prstGeom>
          <a:solidFill>
            <a:srgbClr val="D4D4D4"/>
          </a:solidFill>
          <a:ln w="12700">
            <a:solidFill>
              <a:srgbClr val="D4D4D4"/>
            </a:solidFill>
            <a:prstDash val="solid"/>
          </a:ln>
          <a:effectLst>
            <a:outerShdw blurRad="101600" dist="12700" dir="5400000" algn="bl" rotWithShape="0">
              <a:srgbClr val="AAAAAA">
                <a:alpha val="18000"/>
              </a:srgbClr>
            </a:outerShdw>
          </a:effectLst>
        </p:spPr>
        <p:txBody>
          <a:bodyPr/>
          <a:lstStyle/>
          <a:p>
            <a:endParaRPr lang="en-US"/>
          </a:p>
        </p:txBody>
      </p:sp>
      <p:sp>
        <p:nvSpPr>
          <p:cNvPr id="11" name="Text 8"/>
          <p:cNvSpPr txBox="1"/>
          <p:nvPr/>
        </p:nvSpPr>
        <p:spPr>
          <a:xfrm>
            <a:off x="822960" y="2587752"/>
            <a:ext cx="2377440" cy="804672"/>
          </a:xfrm>
          <a:prstGeom prst="rect">
            <a:avLst/>
          </a:prstGeom>
          <a:noFill/>
          <a:ln/>
        </p:spPr>
        <p:txBody>
          <a:bodyPr wrap="square" lIns="0" tIns="0" rIns="0" bIns="0" rtlCol="0" anchor="ctr"/>
          <a:lstStyle/>
          <a:p>
            <a:pPr marL="0" indent="0">
              <a:buNone/>
            </a:pPr>
            <a:r>
              <a:rPr lang="en-US" sz="1400" b="1" dirty="0">
                <a:solidFill>
                  <a:srgbClr val="121212"/>
                </a:solidFill>
                <a:latin typeface="Calibri" pitchFamily="34" charset="0"/>
                <a:ea typeface="Calibri" pitchFamily="34" charset="-122"/>
                <a:cs typeface="Calibri" pitchFamily="34" charset="-120"/>
              </a:rPr>
              <a:t>Moderate</a:t>
            </a:r>
            <a:endParaRPr lang="en-US" sz="1400" dirty="0"/>
          </a:p>
        </p:txBody>
      </p:sp>
      <p:sp>
        <p:nvSpPr>
          <p:cNvPr id="12" name="Text 9"/>
          <p:cNvSpPr txBox="1"/>
          <p:nvPr/>
        </p:nvSpPr>
        <p:spPr>
          <a:xfrm>
            <a:off x="3246120" y="2587752"/>
            <a:ext cx="2880360" cy="804672"/>
          </a:xfrm>
          <a:prstGeom prst="rect">
            <a:avLst/>
          </a:prstGeom>
          <a:noFill/>
          <a:ln/>
        </p:spPr>
        <p:txBody>
          <a:bodyPr wrap="square" lIns="0" tIns="0" rIns="0" bIns="0" rtlCol="0" anchor="ctr"/>
          <a:lstStyle/>
          <a:p>
            <a:pPr marL="0" indent="0">
              <a:buNone/>
            </a:pPr>
            <a:r>
              <a:rPr lang="en-US" sz="1400" dirty="0">
                <a:solidFill>
                  <a:srgbClr val="121212"/>
                </a:solidFill>
                <a:latin typeface="Calibri" pitchFamily="34" charset="0"/>
                <a:ea typeface="Calibri" pitchFamily="34" charset="-122"/>
                <a:cs typeface="Calibri" pitchFamily="34" charset="-120"/>
              </a:rPr>
              <a:t>x7, x10, x15, x3</a:t>
            </a:r>
            <a:endParaRPr lang="en-US" sz="1400" dirty="0"/>
          </a:p>
        </p:txBody>
      </p:sp>
      <p:sp>
        <p:nvSpPr>
          <p:cNvPr id="13" name="Text 10"/>
          <p:cNvSpPr txBox="1"/>
          <p:nvPr/>
        </p:nvSpPr>
        <p:spPr>
          <a:xfrm>
            <a:off x="6080760" y="2587752"/>
            <a:ext cx="1097280" cy="804672"/>
          </a:xfrm>
          <a:prstGeom prst="rect">
            <a:avLst/>
          </a:prstGeom>
          <a:noFill/>
          <a:ln/>
        </p:spPr>
        <p:txBody>
          <a:bodyPr wrap="square" lIns="0" tIns="0" rIns="0" bIns="0" rtlCol="0" anchor="ctr"/>
          <a:lstStyle/>
          <a:p>
            <a:pPr marL="0" indent="0" algn="r">
              <a:buNone/>
            </a:pPr>
            <a:r>
              <a:rPr lang="en-US" sz="1400" b="1" dirty="0">
                <a:solidFill>
                  <a:srgbClr val="121212"/>
                </a:solidFill>
                <a:latin typeface="Calibri" pitchFamily="34" charset="0"/>
                <a:ea typeface="Calibri" pitchFamily="34" charset="-122"/>
                <a:cs typeface="Calibri" pitchFamily="34" charset="-120"/>
              </a:rPr>
              <a:t>|t| = 2.5 – 6.3</a:t>
            </a:r>
            <a:endParaRPr lang="en-US" sz="1400" dirty="0"/>
          </a:p>
        </p:txBody>
      </p:sp>
      <p:sp>
        <p:nvSpPr>
          <p:cNvPr id="14" name="Shape 11"/>
          <p:cNvSpPr/>
          <p:nvPr/>
        </p:nvSpPr>
        <p:spPr>
          <a:xfrm>
            <a:off x="548640" y="3547872"/>
            <a:ext cx="6903720" cy="804672"/>
          </a:xfrm>
          <a:prstGeom prst="roundRect">
            <a:avLst>
              <a:gd name="adj" fmla="val 9091"/>
            </a:avLst>
          </a:prstGeom>
          <a:solidFill>
            <a:srgbClr val="EAEAEA"/>
          </a:solidFill>
          <a:ln w="12700">
            <a:solidFill>
              <a:srgbClr val="EAEAEA"/>
            </a:solidFill>
            <a:prstDash val="solid"/>
          </a:ln>
          <a:effectLst>
            <a:outerShdw blurRad="101600" dist="12700" dir="5400000" algn="bl" rotWithShape="0">
              <a:srgbClr val="AAAAAA">
                <a:alpha val="18000"/>
              </a:srgbClr>
            </a:outerShdw>
          </a:effectLst>
        </p:spPr>
        <p:txBody>
          <a:bodyPr/>
          <a:lstStyle/>
          <a:p>
            <a:endParaRPr lang="en-US"/>
          </a:p>
        </p:txBody>
      </p:sp>
      <p:sp>
        <p:nvSpPr>
          <p:cNvPr id="15" name="Text 12"/>
          <p:cNvSpPr txBox="1"/>
          <p:nvPr/>
        </p:nvSpPr>
        <p:spPr>
          <a:xfrm>
            <a:off x="822960" y="3547872"/>
            <a:ext cx="2377440" cy="804672"/>
          </a:xfrm>
          <a:prstGeom prst="rect">
            <a:avLst/>
          </a:prstGeom>
          <a:noFill/>
          <a:ln/>
        </p:spPr>
        <p:txBody>
          <a:bodyPr wrap="square" lIns="0" tIns="0" rIns="0" bIns="0" rtlCol="0" anchor="ctr"/>
          <a:lstStyle/>
          <a:p>
            <a:pPr marL="0" indent="0">
              <a:buNone/>
            </a:pPr>
            <a:r>
              <a:rPr lang="en-US" sz="1400" b="1" dirty="0">
                <a:solidFill>
                  <a:srgbClr val="121212"/>
                </a:solidFill>
                <a:latin typeface="Calibri" pitchFamily="34" charset="0"/>
                <a:ea typeface="Calibri" pitchFamily="34" charset="-122"/>
                <a:cs typeface="Calibri" pitchFamily="34" charset="-120"/>
              </a:rPr>
              <a:t>Indistinguishable from noise</a:t>
            </a:r>
            <a:endParaRPr lang="en-US" sz="1400" dirty="0"/>
          </a:p>
        </p:txBody>
      </p:sp>
      <p:sp>
        <p:nvSpPr>
          <p:cNvPr id="16" name="Text 13"/>
          <p:cNvSpPr txBox="1"/>
          <p:nvPr/>
        </p:nvSpPr>
        <p:spPr>
          <a:xfrm>
            <a:off x="3246120" y="3547872"/>
            <a:ext cx="2880360" cy="804672"/>
          </a:xfrm>
          <a:prstGeom prst="rect">
            <a:avLst/>
          </a:prstGeom>
          <a:noFill/>
          <a:ln/>
        </p:spPr>
        <p:txBody>
          <a:bodyPr wrap="square" lIns="0" tIns="0" rIns="0" bIns="0" rtlCol="0" anchor="ctr"/>
          <a:lstStyle/>
          <a:p>
            <a:pPr marL="0" indent="0">
              <a:buNone/>
            </a:pPr>
            <a:r>
              <a:rPr lang="en-US" sz="1400" dirty="0">
                <a:solidFill>
                  <a:srgbClr val="121212"/>
                </a:solidFill>
                <a:latin typeface="Calibri" pitchFamily="34" charset="0"/>
                <a:ea typeface="Calibri" pitchFamily="34" charset="-122"/>
                <a:cs typeface="Calibri" pitchFamily="34" charset="-120"/>
              </a:rPr>
              <a:t>x12, x8, x1, x9, x5, x11</a:t>
            </a:r>
            <a:endParaRPr lang="en-US" sz="1400" dirty="0"/>
          </a:p>
        </p:txBody>
      </p:sp>
      <p:sp>
        <p:nvSpPr>
          <p:cNvPr id="17" name="Text 14"/>
          <p:cNvSpPr txBox="1"/>
          <p:nvPr/>
        </p:nvSpPr>
        <p:spPr>
          <a:xfrm>
            <a:off x="5806440" y="3547872"/>
            <a:ext cx="1371600" cy="804672"/>
          </a:xfrm>
          <a:prstGeom prst="rect">
            <a:avLst/>
          </a:prstGeom>
          <a:noFill/>
          <a:ln/>
        </p:spPr>
        <p:txBody>
          <a:bodyPr wrap="square" lIns="0" tIns="0" rIns="0" bIns="0" rtlCol="0" anchor="ctr"/>
          <a:lstStyle/>
          <a:p>
            <a:pPr marL="0" indent="0" algn="r">
              <a:buNone/>
            </a:pPr>
            <a:r>
              <a:rPr lang="en-US" sz="1400" b="1" dirty="0">
                <a:solidFill>
                  <a:srgbClr val="121212"/>
                </a:solidFill>
                <a:latin typeface="Calibri" pitchFamily="34" charset="0"/>
                <a:ea typeface="Calibri" pitchFamily="34" charset="-122"/>
                <a:cs typeface="Calibri" pitchFamily="34" charset="-120"/>
              </a:rPr>
              <a:t>|t| = 1.44 – 0.12</a:t>
            </a:r>
            <a:endParaRPr lang="en-US" sz="1400" dirty="0"/>
          </a:p>
        </p:txBody>
      </p:sp>
      <p:sp>
        <p:nvSpPr>
          <p:cNvPr id="18" name="Shape 15"/>
          <p:cNvSpPr/>
          <p:nvPr/>
        </p:nvSpPr>
        <p:spPr>
          <a:xfrm>
            <a:off x="7818120" y="1627632"/>
            <a:ext cx="3824935" cy="2862072"/>
          </a:xfrm>
          <a:prstGeom prst="roundRect">
            <a:avLst>
              <a:gd name="adj" fmla="val 2556"/>
            </a:avLst>
          </a:prstGeom>
          <a:solidFill>
            <a:schemeClr val="accent1">
              <a:lumMod val="60000"/>
              <a:lumOff val="40000"/>
            </a:schemeClr>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19" name="Text 16"/>
          <p:cNvSpPr txBox="1"/>
          <p:nvPr/>
        </p:nvSpPr>
        <p:spPr>
          <a:xfrm>
            <a:off x="8092440" y="1828800"/>
            <a:ext cx="3276295" cy="2468880"/>
          </a:xfrm>
          <a:prstGeom prst="rect">
            <a:avLst/>
          </a:prstGeom>
          <a:noFill/>
          <a:ln/>
        </p:spPr>
        <p:txBody>
          <a:bodyPr wrap="square" lIns="0" tIns="0" rIns="0" bIns="0" rtlCol="0" anchor="ctr"/>
          <a:lstStyle/>
          <a:p>
            <a:pPr marL="0" indent="0">
              <a:lnSpc>
                <a:spcPts val="1900"/>
              </a:lnSpc>
              <a:buNone/>
            </a:pPr>
            <a:r>
              <a:rPr lang="en-US" b="1" dirty="0">
                <a:solidFill>
                  <a:srgbClr val="121212"/>
                </a:solidFill>
                <a:latin typeface="Calibri" pitchFamily="34" charset="0"/>
                <a:ea typeface="Calibri" pitchFamily="34" charset="-122"/>
                <a:cs typeface="Calibri" pitchFamily="34" charset="-120"/>
              </a:rPr>
              <a:t>The x3 trap</a:t>
            </a:r>
          </a:p>
          <a:p>
            <a:pPr marL="0" indent="0">
              <a:lnSpc>
                <a:spcPts val="1900"/>
              </a:lnSpc>
              <a:buNone/>
            </a:pPr>
            <a:endParaRPr lang="en-US" dirty="0"/>
          </a:p>
          <a:p>
            <a:pPr marL="0" indent="0">
              <a:lnSpc>
                <a:spcPts val="1900"/>
              </a:lnSpc>
              <a:buNone/>
            </a:pPr>
            <a:r>
              <a:rPr lang="en-US" sz="1600" dirty="0">
                <a:solidFill>
                  <a:srgbClr val="121212"/>
                </a:solidFill>
                <a:latin typeface="Calibri" pitchFamily="34" charset="0"/>
                <a:ea typeface="Calibri" pitchFamily="34" charset="-122"/>
                <a:cs typeface="Calibri" pitchFamily="34" charset="-120"/>
              </a:rPr>
              <a:t>x3 has correlation ≈ 0 with the target because its scale is small (std 1.87 vs ~14 for the others) — yet |t| = 2.51, and dropping it costs about 0.0009 R².</a:t>
            </a:r>
            <a:endParaRPr lang="en-US" dirty="0"/>
          </a:p>
        </p:txBody>
      </p:sp>
      <p:sp>
        <p:nvSpPr>
          <p:cNvPr id="20" name="Shape 17"/>
          <p:cNvSpPr/>
          <p:nvPr/>
        </p:nvSpPr>
        <p:spPr>
          <a:xfrm>
            <a:off x="548640" y="4663440"/>
            <a:ext cx="11094415" cy="1280160"/>
          </a:xfrm>
          <a:prstGeom prst="roundRect">
            <a:avLst>
              <a:gd name="adj" fmla="val 5714"/>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21" name="Text 18"/>
          <p:cNvSpPr txBox="1"/>
          <p:nvPr/>
        </p:nvSpPr>
        <p:spPr>
          <a:xfrm>
            <a:off x="868680" y="4663440"/>
            <a:ext cx="10454335" cy="1280160"/>
          </a:xfrm>
          <a:prstGeom prst="rect">
            <a:avLst/>
          </a:prstGeom>
          <a:noFill/>
          <a:ln/>
        </p:spPr>
        <p:txBody>
          <a:bodyPr wrap="square" lIns="0" tIns="0" rIns="0" bIns="0" rtlCol="0" anchor="ctr"/>
          <a:lstStyle/>
          <a:p>
            <a:pPr marL="0" indent="0">
              <a:lnSpc>
                <a:spcPts val="2000"/>
              </a:lnSpc>
              <a:buNone/>
            </a:pPr>
            <a:r>
              <a:rPr lang="en-US" sz="1600" b="1" dirty="0">
                <a:solidFill>
                  <a:srgbClr val="121212"/>
                </a:solidFill>
                <a:latin typeface="Calibri" pitchFamily="34" charset="0"/>
                <a:ea typeface="Calibri" pitchFamily="34" charset="-122"/>
                <a:cs typeface="Calibri" pitchFamily="34" charset="-120"/>
              </a:rPr>
              <a:t>Never rank features by raw correlation — use standardized coefficients or t-statistics. </a:t>
            </a:r>
            <a:r>
              <a:rPr lang="en-US" sz="1600" dirty="0">
                <a:solidFill>
                  <a:srgbClr val="121212"/>
                </a:solidFill>
                <a:latin typeface="Calibri" pitchFamily="34" charset="0"/>
                <a:ea typeface="Calibri" pitchFamily="34" charset="-122"/>
                <a:cs typeface="Calibri" pitchFamily="34" charset="-120"/>
              </a:rPr>
              <a:t>The gap between the moderate band (2.5) and the noise band (1.44) is clean, which is what makes the selection threshold stable fold to fold.</a:t>
            </a:r>
            <a:endParaRPr lang="en-US" sz="1600" dirty="0"/>
          </a:p>
        </p:txBody>
      </p:sp>
      <p:sp>
        <p:nvSpPr>
          <p:cNvPr id="22" name="Text 19"/>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23" name="Text 20"/>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5</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EXPERIMENT 1  ·  05</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The protocol had to change first</a:t>
            </a:r>
            <a:endParaRPr lang="en-US" sz="3000" dirty="0"/>
          </a:p>
        </p:txBody>
      </p:sp>
      <p:sp>
        <p:nvSpPr>
          <p:cNvPr id="5" name="Shape 2"/>
          <p:cNvSpPr/>
          <p:nvPr/>
        </p:nvSpPr>
        <p:spPr>
          <a:xfrm>
            <a:off x="548640" y="1371600"/>
            <a:ext cx="5532120" cy="2103120"/>
          </a:xfrm>
          <a:prstGeom prst="roundRect">
            <a:avLst>
              <a:gd name="adj" fmla="val 3478"/>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6" name="Text 3"/>
          <p:cNvSpPr txBox="1"/>
          <p:nvPr/>
        </p:nvSpPr>
        <p:spPr>
          <a:xfrm>
            <a:off x="822960" y="1572768"/>
            <a:ext cx="4983480" cy="1737360"/>
          </a:xfrm>
          <a:prstGeom prst="rect">
            <a:avLst/>
          </a:prstGeom>
          <a:noFill/>
          <a:ln/>
        </p:spPr>
        <p:txBody>
          <a:bodyPr wrap="square" lIns="0" tIns="0" rIns="0" bIns="0" rtlCol="0" anchor="ctr"/>
          <a:lstStyle/>
          <a:p>
            <a:pPr marL="0" indent="0">
              <a:lnSpc>
                <a:spcPts val="1900"/>
              </a:lnSpc>
              <a:buNone/>
            </a:pPr>
            <a:r>
              <a:rPr lang="en-US" sz="1600" b="1" kern="0" spc="100" dirty="0">
                <a:solidFill>
                  <a:srgbClr val="121212"/>
                </a:solidFill>
                <a:latin typeface="Calibri" pitchFamily="34" charset="0"/>
                <a:ea typeface="Calibri" pitchFamily="34" charset="-122"/>
                <a:cs typeface="Calibri" pitchFamily="34" charset="-120"/>
              </a:rPr>
              <a:t>Motivation</a:t>
            </a:r>
          </a:p>
          <a:p>
            <a:pPr marL="0" indent="0">
              <a:lnSpc>
                <a:spcPts val="1900"/>
              </a:lnSpc>
              <a:buNone/>
            </a:pPr>
            <a:endParaRPr lang="en-US" sz="1600" dirty="0"/>
          </a:p>
          <a:p>
            <a:pPr marL="0" indent="0">
              <a:lnSpc>
                <a:spcPts val="1900"/>
              </a:lnSpc>
              <a:buNone/>
            </a:pPr>
            <a:r>
              <a:rPr lang="en-US" sz="1600" dirty="0">
                <a:solidFill>
                  <a:srgbClr val="121212"/>
                </a:solidFill>
                <a:latin typeface="Calibri" pitchFamily="34" charset="0"/>
                <a:ea typeface="Calibri" pitchFamily="34" charset="-122"/>
                <a:cs typeface="Calibri" pitchFamily="34" charset="-120"/>
              </a:rPr>
              <a:t>Every linear-family candidate scored 0.536 ± 0.000x. Were they genuinely tied, or was the measurement simply too noisy to tell them apart?</a:t>
            </a:r>
            <a:endParaRPr lang="en-US" sz="1600" dirty="0"/>
          </a:p>
        </p:txBody>
      </p:sp>
      <p:sp>
        <p:nvSpPr>
          <p:cNvPr id="7" name="Shape 4"/>
          <p:cNvSpPr/>
          <p:nvPr/>
        </p:nvSpPr>
        <p:spPr>
          <a:xfrm>
            <a:off x="548640" y="3657600"/>
            <a:ext cx="5532120" cy="2286000"/>
          </a:xfrm>
          <a:prstGeom prst="roundRect">
            <a:avLst>
              <a:gd name="adj" fmla="val 3200"/>
            </a:avLst>
          </a:prstGeom>
          <a:solidFill>
            <a:srgbClr val="FFFFFF"/>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8" name="Text 5"/>
          <p:cNvSpPr txBox="1"/>
          <p:nvPr/>
        </p:nvSpPr>
        <p:spPr>
          <a:xfrm>
            <a:off x="822960" y="3858768"/>
            <a:ext cx="4983480" cy="1920240"/>
          </a:xfrm>
          <a:prstGeom prst="rect">
            <a:avLst/>
          </a:prstGeom>
          <a:noFill/>
          <a:ln/>
        </p:spPr>
        <p:txBody>
          <a:bodyPr wrap="square" lIns="0" tIns="0" rIns="0" bIns="0" rtlCol="0" anchor="ctr"/>
          <a:lstStyle/>
          <a:p>
            <a:pPr marL="0" indent="0">
              <a:lnSpc>
                <a:spcPts val="1900"/>
              </a:lnSpc>
              <a:buNone/>
            </a:pPr>
            <a:r>
              <a:rPr lang="en-US" sz="1600" b="1" kern="0" spc="100" dirty="0">
                <a:solidFill>
                  <a:srgbClr val="121212"/>
                </a:solidFill>
                <a:latin typeface="Calibri" pitchFamily="34" charset="0"/>
                <a:ea typeface="Calibri" pitchFamily="34" charset="-122"/>
                <a:cs typeface="Calibri" pitchFamily="34" charset="-120"/>
              </a:rPr>
              <a:t>Diagnosis</a:t>
            </a:r>
          </a:p>
          <a:p>
            <a:pPr marL="0" indent="0">
              <a:lnSpc>
                <a:spcPts val="1900"/>
              </a:lnSpc>
              <a:buNone/>
            </a:pPr>
            <a:endParaRPr lang="en-US" sz="1600" dirty="0"/>
          </a:p>
          <a:p>
            <a:pPr marL="0" indent="0">
              <a:lnSpc>
                <a:spcPts val="1900"/>
              </a:lnSpc>
              <a:buNone/>
            </a:pPr>
            <a:r>
              <a:rPr lang="en-US" sz="1600" dirty="0">
                <a:solidFill>
                  <a:srgbClr val="121212"/>
                </a:solidFill>
                <a:latin typeface="Calibri" pitchFamily="34" charset="0"/>
                <a:ea typeface="Calibri" pitchFamily="34" charset="-122"/>
                <a:cs typeface="Calibri" pitchFamily="34" charset="-120"/>
              </a:rPr>
              <a:t>Averaging 50 per-fold R² values estimates the wrong thing, and estimates it noisily. Fold-to-fold standard deviation is ~0.049, because whichever extreme rows land in a fold dominate that fold's score.</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108264776"/>
              </p:ext>
            </p:extLst>
          </p:nvPr>
        </p:nvGraphicFramePr>
        <p:xfrm>
          <a:off x="6446520" y="1371600"/>
          <a:ext cx="5239512" cy="2093976"/>
        </p:xfrm>
        <a:graphic>
          <a:graphicData uri="http://schemas.openxmlformats.org/drawingml/2006/table">
            <a:tbl>
              <a:tblPr/>
              <a:tblGrid>
                <a:gridCol w="12344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tblGrid>
              <a:tr h="4114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Changed</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 it Mattered</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extLst>
                  <a:ext uri="{0D108BD9-81ED-4DB2-BD59-A6C34878D82A}">
                    <a16:rowId xmlns:a16="http://schemas.microsoft.com/office/drawing/2014/main" val="10000"/>
                  </a:ext>
                </a:extLst>
              </a:tr>
              <a:tr h="841248">
                <a:tc>
                  <a:txBody>
                    <a:bodyPr/>
                    <a:lstStyle/>
                    <a:p>
                      <a:pPr marL="0" indent="0">
                        <a:buNone/>
                      </a:pPr>
                      <a:r>
                        <a:rPr lang="en-US" sz="1200" b="1" dirty="0">
                          <a:solidFill>
                            <a:srgbClr val="121212"/>
                          </a:solidFill>
                          <a:latin typeface="Calibri" pitchFamily="34" charset="0"/>
                          <a:ea typeface="Calibri" pitchFamily="34" charset="-122"/>
                          <a:cs typeface="Calibri" pitchFamily="34" charset="-120"/>
                        </a:rPr>
                        <a:t>Pooled OOF</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Assemble one out-of-fold prediction vector across all 2,500 rows and score it once</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Matches how the test set is actually scored</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1"/>
                  </a:ext>
                </a:extLst>
              </a:tr>
              <a:tr h="841248">
                <a:tc>
                  <a:txBody>
                    <a:bodyPr/>
                    <a:lstStyle/>
                    <a:p>
                      <a:pPr marL="0" indent="0">
                        <a:buNone/>
                      </a:pPr>
                      <a:r>
                        <a:rPr lang="en-US" sz="1200" b="1" dirty="0">
                          <a:solidFill>
                            <a:srgbClr val="121212"/>
                          </a:solidFill>
                          <a:latin typeface="Calibri" pitchFamily="34" charset="0"/>
                          <a:ea typeface="Calibri" pitchFamily="34" charset="-122"/>
                          <a:cs typeface="Calibri" pitchFamily="34" charset="-120"/>
                        </a:rPr>
                        <a:t>Paired comparison</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Run every model on identical folds and report the SE of the paired difference</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Cuts measurement noise by more than 10×</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2"/>
                  </a:ext>
                </a:extLst>
              </a:tr>
            </a:tbl>
          </a:graphicData>
        </a:graphic>
      </p:graphicFrame>
      <p:sp>
        <p:nvSpPr>
          <p:cNvPr id="10" name="Shape 6"/>
          <p:cNvSpPr/>
          <p:nvPr/>
        </p:nvSpPr>
        <p:spPr>
          <a:xfrm>
            <a:off x="6446520" y="3657600"/>
            <a:ext cx="5196535" cy="2286000"/>
          </a:xfrm>
          <a:prstGeom prst="roundRect">
            <a:avLst>
              <a:gd name="adj" fmla="val 3200"/>
            </a:avLst>
          </a:prstGeom>
          <a:solidFill>
            <a:schemeClr val="accent1">
              <a:lumMod val="75000"/>
            </a:schemeClr>
          </a:solidFill>
          <a:ln w="12700">
            <a:solidFill>
              <a:srgbClr val="121212"/>
            </a:solidFill>
            <a:prstDash val="solid"/>
          </a:ln>
          <a:effectLst>
            <a:outerShdw blurRad="101600" dist="12700" dir="5400000" algn="bl" rotWithShape="0">
              <a:srgbClr val="AAAAAA">
                <a:alpha val="18000"/>
              </a:srgbClr>
            </a:outerShdw>
          </a:effectLst>
        </p:spPr>
        <p:txBody>
          <a:bodyPr/>
          <a:lstStyle/>
          <a:p>
            <a:endParaRPr lang="en-US"/>
          </a:p>
        </p:txBody>
      </p:sp>
      <p:sp>
        <p:nvSpPr>
          <p:cNvPr id="11" name="Text 7"/>
          <p:cNvSpPr txBox="1"/>
          <p:nvPr/>
        </p:nvSpPr>
        <p:spPr>
          <a:xfrm>
            <a:off x="6720840" y="3977640"/>
            <a:ext cx="4647895" cy="685800"/>
          </a:xfrm>
          <a:prstGeom prst="rect">
            <a:avLst/>
          </a:prstGeom>
          <a:noFill/>
          <a:ln/>
        </p:spPr>
        <p:txBody>
          <a:bodyPr wrap="square" lIns="0" tIns="0" rIns="0" bIns="0" rtlCol="0" anchor="ctr"/>
          <a:lstStyle/>
          <a:p>
            <a:pPr marL="0" indent="0">
              <a:buNone/>
            </a:pPr>
            <a:r>
              <a:rPr lang="en-US" sz="3200" b="1" dirty="0">
                <a:solidFill>
                  <a:srgbClr val="D9D9D9"/>
                </a:solidFill>
                <a:latin typeface="Cambria" pitchFamily="34" charset="0"/>
                <a:ea typeface="Cambria" pitchFamily="34" charset="-122"/>
                <a:cs typeface="Cambria" pitchFamily="34" charset="-120"/>
              </a:rPr>
              <a:t>0.05  →  0.0002</a:t>
            </a:r>
            <a:endParaRPr lang="en-US" sz="3200" dirty="0"/>
          </a:p>
        </p:txBody>
      </p:sp>
      <p:sp>
        <p:nvSpPr>
          <p:cNvPr id="12" name="Text 8"/>
          <p:cNvSpPr txBox="1"/>
          <p:nvPr/>
        </p:nvSpPr>
        <p:spPr>
          <a:xfrm>
            <a:off x="6720840" y="4754880"/>
            <a:ext cx="4647895" cy="1005840"/>
          </a:xfrm>
          <a:prstGeom prst="rect">
            <a:avLst/>
          </a:prstGeom>
          <a:noFill/>
          <a:ln/>
        </p:spPr>
        <p:txBody>
          <a:bodyPr wrap="square" lIns="0" tIns="0" rIns="0" bIns="0" rtlCol="0" anchor="ctr"/>
          <a:lstStyle/>
          <a:p>
            <a:pPr marL="0" indent="0">
              <a:lnSpc>
                <a:spcPts val="1800"/>
              </a:lnSpc>
              <a:buNone/>
            </a:pPr>
            <a:r>
              <a:rPr lang="en-US" sz="1400" dirty="0">
                <a:solidFill>
                  <a:schemeClr val="bg1"/>
                </a:solidFill>
                <a:latin typeface="Calibri" pitchFamily="34" charset="0"/>
                <a:ea typeface="Calibri" pitchFamily="34" charset="-122"/>
                <a:cs typeface="Calibri" pitchFamily="34" charset="-120"/>
              </a:rPr>
              <a:t>Measurement resolution after the fix — finally enough to separate models that had looked identical.</a:t>
            </a:r>
            <a:endParaRPr lang="en-US" sz="1400" dirty="0">
              <a:solidFill>
                <a:schemeClr val="bg1"/>
              </a:solidFill>
            </a:endParaRPr>
          </a:p>
        </p:txBody>
      </p:sp>
      <p:sp>
        <p:nvSpPr>
          <p:cNvPr id="13" name="Text 9"/>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14" name="Text 10"/>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6</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EXPERIMENT 2  ·  06</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Does extra model capacity help?  No.</a:t>
            </a:r>
            <a:endParaRPr lang="en-US" sz="3000" dirty="0"/>
          </a:p>
        </p:txBody>
      </p:sp>
      <p:sp>
        <p:nvSpPr>
          <p:cNvPr id="5" name="Text 2"/>
          <p:cNvSpPr txBox="1"/>
          <p:nvPr/>
        </p:nvSpPr>
        <p:spPr>
          <a:xfrm>
            <a:off x="548640" y="1225296"/>
            <a:ext cx="11094415" cy="274320"/>
          </a:xfrm>
          <a:prstGeom prst="rect">
            <a:avLst/>
          </a:prstGeom>
          <a:noFill/>
          <a:ln/>
        </p:spPr>
        <p:txBody>
          <a:bodyPr wrap="square" lIns="0" tIns="0" rIns="0" bIns="0" rtlCol="0" anchor="ctr"/>
          <a:lstStyle/>
          <a:p>
            <a:pPr marL="0" indent="0">
              <a:buNone/>
            </a:pPr>
            <a:r>
              <a:rPr lang="en-US" sz="1350" dirty="0">
                <a:solidFill>
                  <a:srgbClr val="6B6B6B"/>
                </a:solidFill>
                <a:latin typeface="Calibri" pitchFamily="34" charset="0"/>
                <a:ea typeface="Calibri" pitchFamily="34" charset="-122"/>
                <a:cs typeface="Calibri" pitchFamily="34" charset="-120"/>
              </a:rPr>
              <a:t>Heavy tails and unknown feature semantics suggested possible nonlinearity or interactions.</a:t>
            </a:r>
            <a:endParaRPr lang="en-US" sz="1350" dirty="0"/>
          </a:p>
        </p:txBody>
      </p:sp>
      <p:graphicFrame>
        <p:nvGraphicFramePr>
          <p:cNvPr id="6" name="Chart 0"/>
          <p:cNvGraphicFramePr/>
          <p:nvPr/>
        </p:nvGraphicFramePr>
        <p:xfrm>
          <a:off x="548640" y="1600200"/>
          <a:ext cx="630936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7086600" y="1600200"/>
            <a:ext cx="4556455" cy="658368"/>
          </a:xfrm>
          <a:prstGeom prst="rect">
            <a:avLst/>
          </a:prstGeom>
          <a:noFill/>
          <a:ln/>
        </p:spPr>
        <p:txBody>
          <a:bodyPr wrap="square" lIns="0" tIns="0" rIns="0" bIns="0" rtlCol="0" anchor="ctr"/>
          <a:lstStyle/>
          <a:p>
            <a:pPr marL="0" indent="0">
              <a:lnSpc>
                <a:spcPts val="1800"/>
              </a:lnSpc>
              <a:buNone/>
            </a:pPr>
            <a:r>
              <a:rPr lang="en-US" sz="1300" dirty="0">
                <a:solidFill>
                  <a:srgbClr val="121212"/>
                </a:solidFill>
                <a:latin typeface="Calibri" pitchFamily="34" charset="0"/>
                <a:ea typeface="Calibri" pitchFamily="34" charset="-122"/>
                <a:cs typeface="Calibri" pitchFamily="34" charset="-120"/>
              </a:rPr>
              <a:t>Decisive test — penalize only the 210 quadratic and interaction terms, leaving the 20 linear terms alone, then sweep that penalty: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048821552"/>
              </p:ext>
            </p:extLst>
          </p:nvPr>
        </p:nvGraphicFramePr>
        <p:xfrm>
          <a:off x="7086600" y="2377440"/>
          <a:ext cx="4526280" cy="2057400"/>
        </p:xfrm>
        <a:graphic>
          <a:graphicData uri="http://schemas.openxmlformats.org/drawingml/2006/table">
            <a:tbl>
              <a:tblPr/>
              <a:tblGrid>
                <a:gridCol w="2788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114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Penalty on Quadratic Block</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Δ vs linear</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10¹</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−0.075</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10⁴</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−0.0036</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121212"/>
                          </a:solidFill>
                          <a:latin typeface="Calibri" pitchFamily="34" charset="0"/>
                          <a:ea typeface="Calibri" pitchFamily="34" charset="-122"/>
                          <a:cs typeface="Calibri" pitchFamily="34" charset="-120"/>
                        </a:rPr>
                        <a:t>10⁶</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dirty="0">
                          <a:solidFill>
                            <a:srgbClr val="121212"/>
                          </a:solidFill>
                          <a:latin typeface="Calibri" pitchFamily="34" charset="0"/>
                          <a:ea typeface="Calibri" pitchFamily="34" charset="-122"/>
                          <a:cs typeface="Calibri" pitchFamily="34" charset="-120"/>
                        </a:rPr>
                        <a:t>−0.00003</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121212"/>
                          </a:solidFill>
                          <a:latin typeface="Calibri" pitchFamily="34" charset="0"/>
                          <a:ea typeface="Calibri" pitchFamily="34" charset="-122"/>
                          <a:cs typeface="Calibri" pitchFamily="34" charset="-120"/>
                        </a:rPr>
                        <a:t>10⁸</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00" b="1" dirty="0">
                          <a:solidFill>
                            <a:srgbClr val="121212"/>
                          </a:solidFill>
                          <a:latin typeface="Calibri" pitchFamily="34" charset="0"/>
                          <a:ea typeface="Calibri" pitchFamily="34" charset="-122"/>
                          <a:cs typeface="Calibri" pitchFamily="34" charset="-120"/>
                        </a:rPr>
                        <a:t>−0.00000</a:t>
                      </a:r>
                      <a:endParaRPr lang="en-US" sz="120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4"/>
                  </a:ext>
                </a:extLst>
              </a:tr>
            </a:tbl>
          </a:graphicData>
        </a:graphic>
      </p:graphicFrame>
      <p:sp>
        <p:nvSpPr>
          <p:cNvPr id="9" name="Shape 4"/>
          <p:cNvSpPr/>
          <p:nvPr/>
        </p:nvSpPr>
        <p:spPr>
          <a:xfrm>
            <a:off x="548640" y="4709160"/>
            <a:ext cx="11094415" cy="1234440"/>
          </a:xfrm>
          <a:prstGeom prst="roundRect">
            <a:avLst>
              <a:gd name="adj" fmla="val 5926"/>
            </a:avLst>
          </a:prstGeom>
          <a:solidFill>
            <a:schemeClr val="accent1">
              <a:lumMod val="75000"/>
            </a:schemeClr>
          </a:solidFill>
          <a:ln w="12700">
            <a:solidFill>
              <a:srgbClr val="121212"/>
            </a:solidFill>
            <a:prstDash val="solid"/>
          </a:ln>
          <a:effectLst>
            <a:outerShdw blurRad="101600" dist="12700" dir="5400000" algn="bl" rotWithShape="0">
              <a:srgbClr val="AAAAAA">
                <a:alpha val="18000"/>
              </a:srgbClr>
            </a:outerShdw>
          </a:effectLst>
        </p:spPr>
        <p:txBody>
          <a:bodyPr/>
          <a:lstStyle/>
          <a:p>
            <a:endParaRPr lang="en-US"/>
          </a:p>
        </p:txBody>
      </p:sp>
      <p:sp>
        <p:nvSpPr>
          <p:cNvPr id="10" name="Text 5"/>
          <p:cNvSpPr txBox="1"/>
          <p:nvPr/>
        </p:nvSpPr>
        <p:spPr>
          <a:xfrm>
            <a:off x="548640" y="4709160"/>
            <a:ext cx="11064240" cy="1234440"/>
          </a:xfrm>
          <a:prstGeom prst="rect">
            <a:avLst/>
          </a:prstGeom>
          <a:noFill/>
          <a:ln/>
        </p:spPr>
        <p:txBody>
          <a:bodyPr wrap="square" lIns="0" tIns="0" rIns="0" bIns="0" rtlCol="0" anchor="ctr"/>
          <a:lstStyle/>
          <a:p>
            <a:pPr marL="0" indent="0" algn="ctr">
              <a:buNone/>
            </a:pPr>
            <a:r>
              <a:rPr lang="en-US" sz="1700" b="1" dirty="0">
                <a:solidFill>
                  <a:srgbClr val="D9D9D9"/>
                </a:solidFill>
                <a:latin typeface="Calibri" pitchFamily="34" charset="0"/>
                <a:ea typeface="Calibri" pitchFamily="34" charset="-122"/>
                <a:cs typeface="Calibri" pitchFamily="34" charset="-120"/>
              </a:rPr>
              <a:t>The optimal penalty is infinite.  </a:t>
            </a:r>
            <a:r>
              <a:rPr lang="en-US" sz="1700" dirty="0">
                <a:solidFill>
                  <a:srgbClr val="FFFFFF"/>
                </a:solidFill>
                <a:latin typeface="Calibri" pitchFamily="34" charset="0"/>
                <a:ea typeface="Calibri" pitchFamily="34" charset="-122"/>
                <a:cs typeface="Calibri" pitchFamily="34" charset="-120"/>
              </a:rPr>
              <a:t>Curvature and interactions are worth exactly nothing — the generating process is linear.</a:t>
            </a:r>
            <a:endParaRPr lang="en-US" sz="1700" dirty="0"/>
          </a:p>
        </p:txBody>
      </p:sp>
      <p:sp>
        <p:nvSpPr>
          <p:cNvPr id="11" name="Text 6"/>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12" name="Text 7"/>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7</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EXPERIMENT 3  ·  07</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Robust regression backfires</a:t>
            </a:r>
            <a:endParaRPr lang="en-US" sz="3000" dirty="0"/>
          </a:p>
        </p:txBody>
      </p:sp>
      <p:graphicFrame>
        <p:nvGraphicFramePr>
          <p:cNvPr id="5" name="Chart 0"/>
          <p:cNvGraphicFramePr/>
          <p:nvPr/>
        </p:nvGraphicFramePr>
        <p:xfrm>
          <a:off x="548640" y="1417320"/>
          <a:ext cx="594360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 y="4617720"/>
            <a:ext cx="5943600" cy="685800"/>
          </a:xfrm>
          <a:prstGeom prst="rect">
            <a:avLst/>
          </a:prstGeom>
          <a:noFill/>
          <a:ln/>
        </p:spPr>
        <p:txBody>
          <a:bodyPr wrap="square" lIns="0" tIns="0" rIns="0" bIns="0" rtlCol="0" anchor="ctr"/>
          <a:lstStyle/>
          <a:p>
            <a:pPr marL="0" indent="0">
              <a:lnSpc>
                <a:spcPts val="1800"/>
              </a:lnSpc>
              <a:buNone/>
            </a:pPr>
            <a:r>
              <a:rPr lang="en-US" sz="1300" dirty="0">
                <a:solidFill>
                  <a:srgbClr val="6B6B6B"/>
                </a:solidFill>
                <a:latin typeface="Calibri" pitchFamily="34" charset="0"/>
                <a:ea typeface="Calibri" pitchFamily="34" charset="-122"/>
                <a:cs typeface="Calibri" pitchFamily="34" charset="-120"/>
              </a:rPr>
              <a:t>Monotonic — the more robust the fit, the worse the score. Not a convergence artifact: Huber converged in 20 iterations at every setting.</a:t>
            </a:r>
            <a:endParaRPr lang="en-US" sz="1300" dirty="0"/>
          </a:p>
        </p:txBody>
      </p:sp>
      <p:sp>
        <p:nvSpPr>
          <p:cNvPr id="7" name="Shape 3"/>
          <p:cNvSpPr/>
          <p:nvPr/>
        </p:nvSpPr>
        <p:spPr>
          <a:xfrm>
            <a:off x="6720840" y="1417320"/>
            <a:ext cx="4922215" cy="2331720"/>
          </a:xfrm>
          <a:prstGeom prst="roundRect">
            <a:avLst>
              <a:gd name="adj" fmla="val 3137"/>
            </a:avLst>
          </a:prstGeom>
          <a:solidFill>
            <a:srgbClr val="FFFFFF"/>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8" name="Text 4"/>
          <p:cNvSpPr txBox="1"/>
          <p:nvPr/>
        </p:nvSpPr>
        <p:spPr>
          <a:xfrm>
            <a:off x="6995160" y="1627632"/>
            <a:ext cx="4373575" cy="1965960"/>
          </a:xfrm>
          <a:prstGeom prst="rect">
            <a:avLst/>
          </a:prstGeom>
          <a:noFill/>
          <a:ln/>
        </p:spPr>
        <p:txBody>
          <a:bodyPr wrap="square" lIns="0" tIns="0" rIns="0" bIns="0" rtlCol="0" anchor="ctr"/>
          <a:lstStyle/>
          <a:p>
            <a:pPr marL="0" indent="0">
              <a:lnSpc>
                <a:spcPts val="1900"/>
              </a:lnSpc>
              <a:buNone/>
            </a:pPr>
            <a:r>
              <a:rPr lang="en-US" sz="1400" b="1" kern="0" spc="100" dirty="0">
                <a:latin typeface="Calibri" pitchFamily="34" charset="0"/>
                <a:ea typeface="Calibri" pitchFamily="34" charset="-122"/>
                <a:cs typeface="Calibri" pitchFamily="34" charset="-120"/>
              </a:rPr>
              <a:t>Why</a:t>
            </a:r>
          </a:p>
          <a:p>
            <a:pPr marL="0" indent="0">
              <a:lnSpc>
                <a:spcPts val="1900"/>
              </a:lnSpc>
              <a:buNone/>
            </a:pPr>
            <a:endParaRPr lang="en-US" sz="1400" dirty="0"/>
          </a:p>
          <a:p>
            <a:pPr marL="0" indent="0">
              <a:lnSpc>
                <a:spcPts val="1900"/>
              </a:lnSpc>
              <a:buNone/>
            </a:pPr>
            <a:r>
              <a:rPr lang="en-US" sz="1400" dirty="0">
                <a:latin typeface="Calibri" pitchFamily="34" charset="0"/>
                <a:ea typeface="Calibri" pitchFamily="34" charset="-122"/>
                <a:cs typeface="Calibri" pitchFamily="34" charset="-120"/>
              </a:rPr>
              <a:t>R² is a squared-error metric, and 2% of rows own 55% of that error. A model that gives up on those rows is penalized exactly where the metric is decided. Huber shrinks x17's standardized coefficient from 58.5 ± 2.0 down to 21.9.</a:t>
            </a:r>
            <a:endParaRPr lang="en-US" sz="1400" dirty="0"/>
          </a:p>
        </p:txBody>
      </p:sp>
      <p:sp>
        <p:nvSpPr>
          <p:cNvPr id="11" name="Text 7"/>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12" name="Text 8"/>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8</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graphicFrame>
        <p:nvGraphicFramePr>
          <p:cNvPr id="4" name="Chart 0">
            <a:extLst>
              <a:ext uri="{FF2B5EF4-FFF2-40B4-BE49-F238E27FC236}">
                <a16:creationId xmlns:a16="http://schemas.microsoft.com/office/drawing/2014/main" id="{7337369C-BAEB-A4C7-4070-699536C21A75}"/>
              </a:ext>
            </a:extLst>
          </p:cNvPr>
          <p:cNvGraphicFramePr/>
          <p:nvPr/>
        </p:nvGraphicFramePr>
        <p:xfrm>
          <a:off x="701040" y="1569720"/>
          <a:ext cx="5943600" cy="3063240"/>
        </p:xfrm>
        <a:graphic>
          <a:graphicData uri="http://schemas.openxmlformats.org/drawingml/2006/chart">
            <c:chart xmlns:c="http://schemas.openxmlformats.org/drawingml/2006/chart" xmlns:r="http://schemas.openxmlformats.org/officeDocument/2006/relationships" r:id="rId4"/>
          </a:graphicData>
        </a:graphic>
      </p:graphicFrame>
      <p:grpSp>
        <p:nvGrpSpPr>
          <p:cNvPr id="13" name="Group 12">
            <a:extLst>
              <a:ext uri="{FF2B5EF4-FFF2-40B4-BE49-F238E27FC236}">
                <a16:creationId xmlns:a16="http://schemas.microsoft.com/office/drawing/2014/main" id="{BCD5CD08-961F-0911-8618-7EE403442C54}"/>
              </a:ext>
            </a:extLst>
          </p:cNvPr>
          <p:cNvGrpSpPr/>
          <p:nvPr/>
        </p:nvGrpSpPr>
        <p:grpSpPr>
          <a:xfrm>
            <a:off x="6720840" y="3977640"/>
            <a:ext cx="4922215" cy="1965960"/>
            <a:chOff x="6720840" y="3977640"/>
            <a:chExt cx="4922215" cy="1965960"/>
          </a:xfrm>
        </p:grpSpPr>
        <p:sp>
          <p:nvSpPr>
            <p:cNvPr id="14" name="Shape 5">
              <a:extLst>
                <a:ext uri="{FF2B5EF4-FFF2-40B4-BE49-F238E27FC236}">
                  <a16:creationId xmlns:a16="http://schemas.microsoft.com/office/drawing/2014/main" id="{5422CF6C-E395-1866-630C-8DE77F70F798}"/>
                </a:ext>
              </a:extLst>
            </p:cNvPr>
            <p:cNvSpPr/>
            <p:nvPr/>
          </p:nvSpPr>
          <p:spPr>
            <a:xfrm>
              <a:off x="6720840" y="3977640"/>
              <a:ext cx="4922215" cy="1965960"/>
            </a:xfrm>
            <a:prstGeom prst="roundRect">
              <a:avLst>
                <a:gd name="adj" fmla="val 3721"/>
              </a:avLst>
            </a:prstGeom>
            <a:solidFill>
              <a:srgbClr val="EDF1F6"/>
            </a:solidFill>
            <a:ln w="12700">
              <a:solidFill>
                <a:srgbClr val="EDF1F6"/>
              </a:solidFill>
              <a:prstDash val="solid"/>
            </a:ln>
            <a:effectLst>
              <a:outerShdw blurRad="101600" dist="12700" dir="5400000" algn="bl" rotWithShape="0">
                <a:srgbClr val="9AA8B8">
                  <a:alpha val="18000"/>
                </a:srgbClr>
              </a:outerShdw>
            </a:effectLst>
          </p:spPr>
          <p:txBody>
            <a:bodyPr/>
            <a:lstStyle/>
            <a:p>
              <a:endParaRPr lang="en-US"/>
            </a:p>
          </p:txBody>
        </p:sp>
        <p:sp>
          <p:nvSpPr>
            <p:cNvPr id="15" name="Text 6">
              <a:extLst>
                <a:ext uri="{FF2B5EF4-FFF2-40B4-BE49-F238E27FC236}">
                  <a16:creationId xmlns:a16="http://schemas.microsoft.com/office/drawing/2014/main" id="{C18D1095-B6A6-DEE6-2090-307466A26C80}"/>
                </a:ext>
              </a:extLst>
            </p:cNvPr>
            <p:cNvSpPr txBox="1"/>
            <p:nvPr/>
          </p:nvSpPr>
          <p:spPr>
            <a:xfrm>
              <a:off x="6995160" y="4187952"/>
              <a:ext cx="4373575" cy="1600200"/>
            </a:xfrm>
            <a:prstGeom prst="rect">
              <a:avLst/>
            </a:prstGeom>
            <a:noFill/>
            <a:ln/>
          </p:spPr>
          <p:txBody>
            <a:bodyPr wrap="square" lIns="0" tIns="0" rIns="0" bIns="0" rtlCol="0" anchor="ctr"/>
            <a:lstStyle/>
            <a:p>
              <a:pPr marL="0" indent="0">
                <a:lnSpc>
                  <a:spcPts val="1900"/>
                </a:lnSpc>
                <a:buNone/>
              </a:pPr>
              <a:r>
                <a:rPr lang="en-US" sz="1400" b="1" kern="0" spc="100" dirty="0">
                  <a:latin typeface="Calibri" pitchFamily="34" charset="0"/>
                  <a:ea typeface="Calibri" pitchFamily="34" charset="-122"/>
                  <a:cs typeface="Calibri" pitchFamily="34" charset="-120"/>
                </a:rPr>
                <a:t>Takeaway</a:t>
              </a:r>
            </a:p>
            <a:p>
              <a:pPr marL="0" indent="0">
                <a:lnSpc>
                  <a:spcPts val="1900"/>
                </a:lnSpc>
                <a:buNone/>
              </a:pPr>
              <a:endParaRPr lang="en-US" sz="1400" dirty="0"/>
            </a:p>
            <a:p>
              <a:pPr marL="0" indent="0">
                <a:lnSpc>
                  <a:spcPts val="1900"/>
                </a:lnSpc>
                <a:buNone/>
              </a:pPr>
              <a:r>
                <a:rPr lang="en-US" sz="1400" dirty="0">
                  <a:latin typeface="Calibri" pitchFamily="34" charset="0"/>
                  <a:ea typeface="Calibri" pitchFamily="34" charset="-122"/>
                  <a:cs typeface="Calibri" pitchFamily="34" charset="-120"/>
                </a:rPr>
                <a:t>Robustness helps when outliers are corruption. Here they are legitimate heavy-tail draws — and the metric demands chasing them.</a:t>
              </a:r>
              <a:endParaRPr lang="en-US" sz="14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EXPERIMENT 4  ·  08</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Four promising leads that died</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2834640"/>
        </p:xfrm>
        <a:graphic>
          <a:graphicData uri="http://schemas.openxmlformats.org/drawingml/2006/table">
            <a:tbl>
              <a:tblPr/>
              <a:tblGrid>
                <a:gridCol w="26060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79392">
                  <a:extLst>
                    <a:ext uri="{9D8B030D-6E8A-4147-A177-3AD203B41FA5}">
                      <a16:colId xmlns:a16="http://schemas.microsoft.com/office/drawing/2014/main" val="20002"/>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Lead</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 it looked promising</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The test that killed it</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Monotone nonlinearity</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Spearman &gt; Pearson for 8 of 20 features</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Winsorizing the target moved Pearson onto Spearman</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Outliers are amplified signal</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For extreme rows, y ≈ 3.95 × prediction</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Homoscedastic-noise simulation reproduced slope 2.28</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Informative missingness</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10 of 20 columns showed different target means when missing</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At n ≈ 25 per column, SE is ~30 — pure multiple-testing noise</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21212"/>
                          </a:solidFill>
                          <a:latin typeface="Calibri" pitchFamily="34" charset="0"/>
                          <a:ea typeface="Calibri" pitchFamily="34" charset="-122"/>
                          <a:cs typeface="Calibri" pitchFamily="34" charset="-120"/>
                        </a:rPr>
                        <a:t>Leakage</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Id had r = 0.02, worth checking</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Contiguous random split; no duplicates or near-duplicates</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4"/>
                  </a:ext>
                </a:extLst>
              </a:tr>
            </a:tbl>
          </a:graphicData>
        </a:graphic>
      </p:graphicFrame>
      <p:sp>
        <p:nvSpPr>
          <p:cNvPr id="6" name="Shape 2"/>
          <p:cNvSpPr/>
          <p:nvPr/>
        </p:nvSpPr>
        <p:spPr>
          <a:xfrm>
            <a:off x="548640" y="4617720"/>
            <a:ext cx="6858000" cy="1325880"/>
          </a:xfrm>
          <a:prstGeom prst="roundRect">
            <a:avLst>
              <a:gd name="adj" fmla="val 5517"/>
            </a:avLst>
          </a:prstGeom>
          <a:solidFill>
            <a:srgbClr val="EAEAEA"/>
          </a:solidFill>
          <a:ln w="12700">
            <a:solidFill>
              <a:srgbClr val="EAEAEA"/>
            </a:solidFill>
            <a:prstDash val="solid"/>
          </a:ln>
          <a:effectLst>
            <a:outerShdw blurRad="101600" dist="12700" dir="5400000" algn="bl" rotWithShape="0">
              <a:srgbClr val="AAAAAA">
                <a:alpha val="18000"/>
              </a:srgbClr>
            </a:outerShdw>
          </a:effectLst>
        </p:spPr>
        <p:txBody>
          <a:bodyPr/>
          <a:lstStyle/>
          <a:p>
            <a:endParaRPr lang="en-US"/>
          </a:p>
        </p:txBody>
      </p:sp>
      <p:sp>
        <p:nvSpPr>
          <p:cNvPr id="7" name="Text 3"/>
          <p:cNvSpPr txBox="1"/>
          <p:nvPr/>
        </p:nvSpPr>
        <p:spPr>
          <a:xfrm>
            <a:off x="841248" y="4617720"/>
            <a:ext cx="6272784" cy="1325880"/>
          </a:xfrm>
          <a:prstGeom prst="rect">
            <a:avLst/>
          </a:prstGeom>
          <a:noFill/>
          <a:ln/>
        </p:spPr>
        <p:txBody>
          <a:bodyPr wrap="square" lIns="0" tIns="0" rIns="0" bIns="0" rtlCol="0" anchor="ctr"/>
          <a:lstStyle/>
          <a:p>
            <a:pPr marL="0" indent="0">
              <a:lnSpc>
                <a:spcPts val="1900"/>
              </a:lnSpc>
              <a:buNone/>
            </a:pPr>
            <a:r>
              <a:rPr lang="en-US" sz="1400" b="1" dirty="0">
                <a:solidFill>
                  <a:srgbClr val="121212"/>
                </a:solidFill>
                <a:latin typeface="Calibri" pitchFamily="34" charset="0"/>
                <a:ea typeface="Calibri" pitchFamily="34" charset="-122"/>
                <a:cs typeface="Calibri" pitchFamily="34" charset="-120"/>
              </a:rPr>
              <a:t>Also ruled out — better imputation.  </a:t>
            </a:r>
            <a:r>
              <a:rPr lang="en-US" sz="1400" dirty="0">
                <a:solidFill>
                  <a:srgbClr val="121212"/>
                </a:solidFill>
                <a:latin typeface="Calibri" pitchFamily="34" charset="0"/>
                <a:ea typeface="Calibri" pitchFamily="34" charset="-122"/>
                <a:cs typeface="Calibri" pitchFamily="34" charset="-120"/>
              </a:rPr>
              <a:t>IterativeImputer matched mean imputation exactly (0.5359), as it should: the features are mutually uncorrelated, so there is nothing to impute from.</a:t>
            </a:r>
            <a:endParaRPr lang="en-US" sz="1400" dirty="0"/>
          </a:p>
        </p:txBody>
      </p:sp>
      <p:sp>
        <p:nvSpPr>
          <p:cNvPr id="8" name="Shape 4"/>
          <p:cNvSpPr/>
          <p:nvPr/>
        </p:nvSpPr>
        <p:spPr>
          <a:xfrm>
            <a:off x="7635240" y="4617720"/>
            <a:ext cx="4007815" cy="1325880"/>
          </a:xfrm>
          <a:prstGeom prst="roundRect">
            <a:avLst>
              <a:gd name="adj" fmla="val 5517"/>
            </a:avLst>
          </a:prstGeom>
          <a:solidFill>
            <a:schemeClr val="accent1">
              <a:lumMod val="75000"/>
            </a:schemeClr>
          </a:solidFill>
          <a:ln w="12700">
            <a:solidFill>
              <a:srgbClr val="121212"/>
            </a:solidFill>
            <a:prstDash val="solid"/>
          </a:ln>
          <a:effectLst>
            <a:outerShdw blurRad="101600" dist="12700" dir="5400000" algn="bl" rotWithShape="0">
              <a:srgbClr val="AAAAAA">
                <a:alpha val="18000"/>
              </a:srgbClr>
            </a:outerShdw>
          </a:effectLst>
        </p:spPr>
        <p:txBody>
          <a:bodyPr/>
          <a:lstStyle/>
          <a:p>
            <a:endParaRPr lang="en-US"/>
          </a:p>
        </p:txBody>
      </p:sp>
      <p:sp>
        <p:nvSpPr>
          <p:cNvPr id="9" name="Text 5"/>
          <p:cNvSpPr txBox="1"/>
          <p:nvPr/>
        </p:nvSpPr>
        <p:spPr>
          <a:xfrm>
            <a:off x="7927848" y="4617720"/>
            <a:ext cx="3422599" cy="1325880"/>
          </a:xfrm>
          <a:prstGeom prst="rect">
            <a:avLst/>
          </a:prstGeom>
          <a:noFill/>
          <a:ln/>
        </p:spPr>
        <p:txBody>
          <a:bodyPr wrap="square" lIns="0" tIns="0" rIns="0" bIns="0" rtlCol="0" anchor="ctr"/>
          <a:lstStyle/>
          <a:p>
            <a:pPr marL="0" indent="0">
              <a:lnSpc>
                <a:spcPts val="2000"/>
              </a:lnSpc>
              <a:buNone/>
            </a:pPr>
            <a:r>
              <a:rPr lang="en-US" sz="1600" b="1" dirty="0">
                <a:solidFill>
                  <a:srgbClr val="FFFFFF"/>
                </a:solidFill>
                <a:latin typeface="Calibri" pitchFamily="34" charset="0"/>
                <a:ea typeface="Calibri" pitchFamily="34" charset="-122"/>
                <a:cs typeface="Calibri" pitchFamily="34" charset="-120"/>
              </a:rPr>
              <a:t>Each lead was killed by a specific test — not by argument.</a:t>
            </a:r>
            <a:endParaRPr lang="en-US" sz="1600" dirty="0"/>
          </a:p>
        </p:txBody>
      </p:sp>
      <p:sp>
        <p:nvSpPr>
          <p:cNvPr id="4" name="Text 6"/>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11" name="Text 7"/>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9</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THE WINNING MOVE  ·  09</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What actually worked: drop the noise features</a:t>
            </a:r>
            <a:endParaRPr lang="en-US" sz="3000" dirty="0"/>
          </a:p>
        </p:txBody>
      </p:sp>
      <p:sp>
        <p:nvSpPr>
          <p:cNvPr id="5" name="Text 2"/>
          <p:cNvSpPr txBox="1"/>
          <p:nvPr/>
        </p:nvSpPr>
        <p:spPr>
          <a:xfrm>
            <a:off x="548640" y="1225296"/>
            <a:ext cx="11094415" cy="274320"/>
          </a:xfrm>
          <a:prstGeom prst="rect">
            <a:avLst/>
          </a:prstGeom>
          <a:noFill/>
          <a:ln/>
        </p:spPr>
        <p:txBody>
          <a:bodyPr wrap="square" lIns="0" tIns="0" rIns="0" bIns="0" rtlCol="0" anchor="ctr"/>
          <a:lstStyle/>
          <a:p>
            <a:pPr marL="0" indent="0">
              <a:buNone/>
            </a:pPr>
            <a:r>
              <a:rPr lang="en-US" sz="1350" dirty="0">
                <a:solidFill>
                  <a:srgbClr val="6B6B6B"/>
                </a:solidFill>
                <a:latin typeface="Calibri" pitchFamily="34" charset="0"/>
                <a:ea typeface="Calibri" pitchFamily="34" charset="-122"/>
                <a:cs typeface="Calibri" pitchFamily="34" charset="-120"/>
              </a:rPr>
              <a:t>OLS pays a variance cost for every coefficient it estimates. Six features have |t| &lt; 1.5 — estimating them buys nothing and costs variance on every prediction.</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6035040" cy="2144268"/>
        </p:xfrm>
        <a:graphic>
          <a:graphicData uri="http://schemas.openxmlformats.org/drawingml/2006/table">
            <a:tbl>
              <a:tblPr/>
              <a:tblGrid>
                <a:gridCol w="11887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063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 threshold</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Avg features kept</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Pooled OOF R²</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Δ vs OLS</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SE</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extLst>
                  <a:ext uri="{0D108BD9-81ED-4DB2-BD59-A6C34878D82A}">
                    <a16:rowId xmlns:a16="http://schemas.microsoft.com/office/drawing/2014/main" val="10000"/>
                  </a:ext>
                </a:extLst>
              </a:tr>
              <a:tr h="306324">
                <a:tc>
                  <a:txBody>
                    <a:bodyPr/>
                    <a:lstStyle/>
                    <a:p>
                      <a:pPr marL="0" indent="0">
                        <a:buNone/>
                      </a:pPr>
                      <a:r>
                        <a:rPr lang="en-US" sz="1150" dirty="0">
                          <a:solidFill>
                            <a:srgbClr val="121212"/>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17.2</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0.53170</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+0.00004</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6B6B6B"/>
                          </a:solidFill>
                          <a:latin typeface="Calibri" pitchFamily="34" charset="0"/>
                          <a:ea typeface="Calibri" pitchFamily="34" charset="-122"/>
                          <a:cs typeface="Calibri" pitchFamily="34" charset="-120"/>
                        </a:rPr>
                        <a:t>0.00078</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1"/>
                  </a:ext>
                </a:extLst>
              </a:tr>
              <a:tr h="306324">
                <a:tc>
                  <a:txBody>
                    <a:bodyPr/>
                    <a:lstStyle/>
                    <a:p>
                      <a:pPr marL="0" indent="0">
                        <a:buNone/>
                      </a:pPr>
                      <a:r>
                        <a:rPr lang="en-US" sz="1150" dirty="0">
                          <a:solidFill>
                            <a:srgbClr val="121212"/>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15.3</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0.53232</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+0.00078</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6B6B6B"/>
                          </a:solidFill>
                          <a:latin typeface="Calibri" pitchFamily="34" charset="0"/>
                          <a:ea typeface="Calibri" pitchFamily="34" charset="-122"/>
                          <a:cs typeface="Calibri" pitchFamily="34" charset="-120"/>
                        </a:rPr>
                        <a:t>0.00009</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2"/>
                  </a:ext>
                </a:extLst>
              </a:tr>
              <a:tr h="306324">
                <a:tc>
                  <a:txBody>
                    <a:bodyPr/>
                    <a:lstStyle/>
                    <a:p>
                      <a:pPr marL="0" indent="0">
                        <a:buNone/>
                      </a:pPr>
                      <a:r>
                        <a:rPr lang="en-US" sz="1150" b="1" dirty="0">
                          <a:solidFill>
                            <a:srgbClr val="121212"/>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b="1" dirty="0">
                          <a:solidFill>
                            <a:srgbClr val="121212"/>
                          </a:solidFill>
                          <a:latin typeface="Calibri" pitchFamily="34" charset="0"/>
                          <a:ea typeface="Calibri" pitchFamily="34" charset="-122"/>
                          <a:cs typeface="Calibri" pitchFamily="34" charset="-120"/>
                        </a:rPr>
                        <a:t>14.4</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b="1" dirty="0">
                          <a:solidFill>
                            <a:srgbClr val="121212"/>
                          </a:solidFill>
                          <a:latin typeface="Calibri" pitchFamily="34" charset="0"/>
                          <a:ea typeface="Calibri" pitchFamily="34" charset="-122"/>
                          <a:cs typeface="Calibri" pitchFamily="34" charset="-120"/>
                        </a:rPr>
                        <a:t>0.53267</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b="1" dirty="0">
                          <a:solidFill>
                            <a:srgbClr val="121212"/>
                          </a:solidFill>
                          <a:latin typeface="Calibri" pitchFamily="34" charset="0"/>
                          <a:ea typeface="Calibri" pitchFamily="34" charset="-122"/>
                          <a:cs typeface="Calibri" pitchFamily="34" charset="-120"/>
                        </a:rPr>
                        <a:t>+0.00113</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b="1" dirty="0">
                          <a:solidFill>
                            <a:srgbClr val="121212"/>
                          </a:solidFill>
                          <a:latin typeface="Calibri" pitchFamily="34" charset="0"/>
                          <a:ea typeface="Calibri" pitchFamily="34" charset="-122"/>
                          <a:cs typeface="Calibri" pitchFamily="34" charset="-120"/>
                        </a:rPr>
                        <a:t>0.00020</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3"/>
                  </a:ext>
                </a:extLst>
              </a:tr>
              <a:tr h="306324">
                <a:tc>
                  <a:txBody>
                    <a:bodyPr/>
                    <a:lstStyle/>
                    <a:p>
                      <a:pPr marL="0" indent="0">
                        <a:buNone/>
                      </a:pPr>
                      <a:r>
                        <a:rPr lang="en-US" sz="1150" dirty="0">
                          <a:solidFill>
                            <a:srgbClr val="121212"/>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13.7</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0.53255</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+0.00101</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6B6B6B"/>
                          </a:solidFill>
                          <a:latin typeface="Calibri" pitchFamily="34" charset="0"/>
                          <a:ea typeface="Calibri" pitchFamily="34" charset="-122"/>
                          <a:cs typeface="Calibri" pitchFamily="34" charset="-120"/>
                        </a:rPr>
                        <a:t>0.00030</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4"/>
                  </a:ext>
                </a:extLst>
              </a:tr>
              <a:tr h="306324">
                <a:tc>
                  <a:txBody>
                    <a:bodyPr/>
                    <a:lstStyle/>
                    <a:p>
                      <a:pPr marL="0" indent="0">
                        <a:buNone/>
                      </a:pPr>
                      <a:r>
                        <a:rPr lang="en-US" sz="1150" dirty="0">
                          <a:solidFill>
                            <a:srgbClr val="121212"/>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0.53099</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7A7A7A"/>
                          </a:solidFill>
                          <a:latin typeface="Calibri" pitchFamily="34" charset="0"/>
                          <a:ea typeface="Calibri" pitchFamily="34" charset="-122"/>
                          <a:cs typeface="Calibri" pitchFamily="34" charset="-120"/>
                        </a:rPr>
                        <a:t>−0.00056</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6B6B6B"/>
                          </a:solidFill>
                          <a:latin typeface="Calibri" pitchFamily="34" charset="0"/>
                          <a:ea typeface="Calibri" pitchFamily="34" charset="-122"/>
                          <a:cs typeface="Calibri" pitchFamily="34" charset="-120"/>
                        </a:rPr>
                        <a:t>0.00025</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5"/>
                  </a:ext>
                </a:extLst>
              </a:tr>
              <a:tr h="306324">
                <a:tc>
                  <a:txBody>
                    <a:bodyPr/>
                    <a:lstStyle/>
                    <a:p>
                      <a:pPr marL="0" indent="0">
                        <a:buNone/>
                      </a:pPr>
                      <a:r>
                        <a:rPr lang="en-US" sz="1150" dirty="0">
                          <a:solidFill>
                            <a:srgbClr val="121212"/>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121212"/>
                          </a:solidFill>
                          <a:latin typeface="Calibri" pitchFamily="34" charset="0"/>
                          <a:ea typeface="Calibri" pitchFamily="34" charset="-122"/>
                          <a:cs typeface="Calibri" pitchFamily="34" charset="-120"/>
                        </a:rPr>
                        <a:t>0.52989</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7A7A7A"/>
                          </a:solidFill>
                          <a:latin typeface="Calibri" pitchFamily="34" charset="0"/>
                          <a:ea typeface="Calibri" pitchFamily="34" charset="-122"/>
                          <a:cs typeface="Calibri" pitchFamily="34" charset="-120"/>
                        </a:rPr>
                        <a:t>−0.00165</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150" dirty="0">
                          <a:solidFill>
                            <a:srgbClr val="6B6B6B"/>
                          </a:solidFill>
                          <a:latin typeface="Calibri" pitchFamily="34" charset="0"/>
                          <a:ea typeface="Calibri" pitchFamily="34" charset="-122"/>
                          <a:cs typeface="Calibri" pitchFamily="34" charset="-120"/>
                        </a:rPr>
                        <a:t>0.00029</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6"/>
                  </a:ext>
                </a:extLst>
              </a:tr>
            </a:tbl>
          </a:graphicData>
        </a:graphic>
      </p:graphicFrame>
      <p:graphicFrame>
        <p:nvGraphicFramePr>
          <p:cNvPr id="7" name="Chart 0"/>
          <p:cNvGraphicFramePr/>
          <p:nvPr/>
        </p:nvGraphicFramePr>
        <p:xfrm>
          <a:off x="6675120" y="1627632"/>
          <a:ext cx="49834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3"/>
          <p:cNvSpPr/>
          <p:nvPr/>
        </p:nvSpPr>
        <p:spPr>
          <a:xfrm>
            <a:off x="548640" y="4526280"/>
            <a:ext cx="3575304" cy="1417320"/>
          </a:xfrm>
          <a:prstGeom prst="roundRect">
            <a:avLst>
              <a:gd name="adj" fmla="val 5161"/>
            </a:avLst>
          </a:prstGeom>
          <a:solidFill>
            <a:srgbClr val="EAEAEA"/>
          </a:solidFill>
          <a:ln w="12700">
            <a:solidFill>
              <a:srgbClr val="EAEAEA"/>
            </a:solidFill>
            <a:prstDash val="solid"/>
          </a:ln>
          <a:effectLst>
            <a:outerShdw blurRad="101600" dist="12700" dir="5400000" algn="bl" rotWithShape="0">
              <a:srgbClr val="AAAAAA">
                <a:alpha val="18000"/>
              </a:srgbClr>
            </a:outerShdw>
          </a:effectLst>
        </p:spPr>
        <p:txBody>
          <a:bodyPr/>
          <a:lstStyle/>
          <a:p>
            <a:endParaRPr lang="en-US"/>
          </a:p>
        </p:txBody>
      </p:sp>
      <p:sp>
        <p:nvSpPr>
          <p:cNvPr id="9" name="Text 4"/>
          <p:cNvSpPr txBox="1"/>
          <p:nvPr/>
        </p:nvSpPr>
        <p:spPr>
          <a:xfrm>
            <a:off x="804672" y="4709160"/>
            <a:ext cx="3063240" cy="1097280"/>
          </a:xfrm>
          <a:prstGeom prst="rect">
            <a:avLst/>
          </a:prstGeom>
          <a:noFill/>
          <a:ln/>
        </p:spPr>
        <p:txBody>
          <a:bodyPr wrap="square" lIns="0" tIns="0" rIns="0" bIns="0" rtlCol="0" anchor="ctr"/>
          <a:lstStyle/>
          <a:p>
            <a:pPr marL="0" indent="0">
              <a:lnSpc>
                <a:spcPts val="1700"/>
              </a:lnSpc>
              <a:buNone/>
            </a:pPr>
            <a:r>
              <a:rPr lang="en-US" sz="1400" b="1" dirty="0">
                <a:solidFill>
                  <a:srgbClr val="121212"/>
                </a:solidFill>
                <a:latin typeface="Calibri" pitchFamily="34" charset="0"/>
                <a:ea typeface="Calibri" pitchFamily="34" charset="-122"/>
                <a:cs typeface="Calibri" pitchFamily="34" charset="-120"/>
              </a:rPr>
              <a:t>Peak at |t| ≈ 1.5</a:t>
            </a:r>
          </a:p>
          <a:p>
            <a:pPr marL="0" indent="0">
              <a:lnSpc>
                <a:spcPts val="1700"/>
              </a:lnSpc>
              <a:buNone/>
            </a:pPr>
            <a:endParaRPr lang="en-US" sz="1400" dirty="0"/>
          </a:p>
          <a:p>
            <a:pPr marL="0" indent="0">
              <a:lnSpc>
                <a:spcPts val="1700"/>
              </a:lnSpc>
              <a:buNone/>
            </a:pPr>
            <a:r>
              <a:rPr lang="en-US" sz="1400" dirty="0">
                <a:solidFill>
                  <a:srgbClr val="121212"/>
                </a:solidFill>
                <a:latin typeface="Calibri" pitchFamily="34" charset="0"/>
                <a:ea typeface="Calibri" pitchFamily="34" charset="-122"/>
                <a:cs typeface="Calibri" pitchFamily="34" charset="-120"/>
              </a:rPr>
              <a:t>A 5.5σ effect — roughly 3× larger than LassoCV's model-family change.</a:t>
            </a:r>
            <a:endParaRPr lang="en-US" sz="1400" dirty="0"/>
          </a:p>
        </p:txBody>
      </p:sp>
      <p:sp>
        <p:nvSpPr>
          <p:cNvPr id="10" name="Shape 5"/>
          <p:cNvSpPr/>
          <p:nvPr/>
        </p:nvSpPr>
        <p:spPr>
          <a:xfrm>
            <a:off x="4306824" y="4526280"/>
            <a:ext cx="3575304" cy="1417320"/>
          </a:xfrm>
          <a:prstGeom prst="roundRect">
            <a:avLst>
              <a:gd name="adj" fmla="val 5161"/>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4" name="Text 6"/>
          <p:cNvSpPr txBox="1"/>
          <p:nvPr/>
        </p:nvSpPr>
        <p:spPr>
          <a:xfrm>
            <a:off x="4562856" y="4709160"/>
            <a:ext cx="3063240" cy="1097280"/>
          </a:xfrm>
          <a:prstGeom prst="rect">
            <a:avLst/>
          </a:prstGeom>
          <a:noFill/>
          <a:ln/>
        </p:spPr>
        <p:txBody>
          <a:bodyPr wrap="square" lIns="0" tIns="0" rIns="0" bIns="0" rtlCol="0" anchor="ctr"/>
          <a:lstStyle/>
          <a:p>
            <a:pPr marL="0" indent="0">
              <a:lnSpc>
                <a:spcPts val="1700"/>
              </a:lnSpc>
              <a:buNone/>
            </a:pPr>
            <a:r>
              <a:rPr lang="en-US" sz="1400" b="1" dirty="0" err="1">
                <a:solidFill>
                  <a:srgbClr val="121212"/>
                </a:solidFill>
                <a:latin typeface="Calibri" pitchFamily="34" charset="0"/>
                <a:ea typeface="Calibri" pitchFamily="34" charset="-122"/>
                <a:cs typeface="Calibri" pitchFamily="34" charset="-120"/>
              </a:rPr>
              <a:t>LassoCV</a:t>
            </a:r>
            <a:r>
              <a:rPr lang="en-US" sz="1400" b="1" dirty="0">
                <a:solidFill>
                  <a:srgbClr val="121212"/>
                </a:solidFill>
                <a:latin typeface="Calibri" pitchFamily="34" charset="0"/>
                <a:ea typeface="Calibri" pitchFamily="34" charset="-122"/>
                <a:cs typeface="Calibri" pitchFamily="34" charset="-120"/>
              </a:rPr>
              <a:t> explained</a:t>
            </a:r>
          </a:p>
          <a:p>
            <a:pPr marL="0" indent="0">
              <a:lnSpc>
                <a:spcPts val="1700"/>
              </a:lnSpc>
              <a:buNone/>
            </a:pPr>
            <a:endParaRPr lang="en-US" sz="1400" dirty="0"/>
          </a:p>
          <a:p>
            <a:pPr marL="0" indent="0">
              <a:lnSpc>
                <a:spcPts val="1700"/>
              </a:lnSpc>
              <a:buNone/>
            </a:pPr>
            <a:r>
              <a:rPr lang="en-US" sz="1400" dirty="0">
                <a:solidFill>
                  <a:srgbClr val="121212"/>
                </a:solidFill>
                <a:latin typeface="Calibri" pitchFamily="34" charset="0"/>
                <a:ea typeface="Calibri" pitchFamily="34" charset="-122"/>
                <a:cs typeface="Calibri" pitchFamily="34" charset="-120"/>
              </a:rPr>
              <a:t>Its +0.0004 comes entirely from zeroing x9 and x11.</a:t>
            </a:r>
            <a:endParaRPr lang="en-US" sz="1400" dirty="0"/>
          </a:p>
        </p:txBody>
      </p:sp>
      <p:sp>
        <p:nvSpPr>
          <p:cNvPr id="12" name="Shape 7"/>
          <p:cNvSpPr/>
          <p:nvPr/>
        </p:nvSpPr>
        <p:spPr>
          <a:xfrm>
            <a:off x="8065008" y="4526280"/>
            <a:ext cx="3575304" cy="1417320"/>
          </a:xfrm>
          <a:prstGeom prst="roundRect">
            <a:avLst>
              <a:gd name="adj" fmla="val 5161"/>
            </a:avLst>
          </a:prstGeom>
          <a:solidFill>
            <a:srgbClr val="F6F6F6"/>
          </a:solidFill>
          <a:ln w="12700">
            <a:solidFill>
              <a:srgbClr val="F6F6F6"/>
            </a:solidFill>
            <a:prstDash val="solid"/>
          </a:ln>
          <a:effectLst>
            <a:outerShdw blurRad="101600" dist="12700" dir="5400000" algn="bl" rotWithShape="0">
              <a:srgbClr val="AAAAAA">
                <a:alpha val="18000"/>
              </a:srgbClr>
            </a:outerShdw>
          </a:effectLst>
        </p:spPr>
        <p:txBody>
          <a:bodyPr/>
          <a:lstStyle/>
          <a:p>
            <a:endParaRPr lang="en-US"/>
          </a:p>
        </p:txBody>
      </p:sp>
      <p:sp>
        <p:nvSpPr>
          <p:cNvPr id="13" name="Text 8"/>
          <p:cNvSpPr txBox="1"/>
          <p:nvPr/>
        </p:nvSpPr>
        <p:spPr>
          <a:xfrm>
            <a:off x="8321040" y="4709160"/>
            <a:ext cx="3063240" cy="1097280"/>
          </a:xfrm>
          <a:prstGeom prst="rect">
            <a:avLst/>
          </a:prstGeom>
          <a:noFill/>
          <a:ln/>
        </p:spPr>
        <p:txBody>
          <a:bodyPr wrap="square" lIns="0" tIns="0" rIns="0" bIns="0" rtlCol="0" anchor="ctr"/>
          <a:lstStyle/>
          <a:p>
            <a:pPr marL="0" indent="0">
              <a:lnSpc>
                <a:spcPts val="1700"/>
              </a:lnSpc>
              <a:buNone/>
            </a:pPr>
            <a:r>
              <a:rPr lang="en-US" sz="1400" b="1" dirty="0">
                <a:solidFill>
                  <a:srgbClr val="121212"/>
                </a:solidFill>
                <a:latin typeface="Calibri" pitchFamily="34" charset="0"/>
                <a:ea typeface="Calibri" pitchFamily="34" charset="-122"/>
                <a:cs typeface="Calibri" pitchFamily="34" charset="-120"/>
              </a:rPr>
              <a:t>Cutting deeper hurts</a:t>
            </a:r>
          </a:p>
          <a:p>
            <a:pPr marL="0" indent="0">
              <a:lnSpc>
                <a:spcPts val="1700"/>
              </a:lnSpc>
              <a:buNone/>
            </a:pPr>
            <a:endParaRPr lang="en-US" sz="1400" dirty="0"/>
          </a:p>
          <a:p>
            <a:pPr marL="0" indent="0">
              <a:lnSpc>
                <a:spcPts val="1700"/>
              </a:lnSpc>
              <a:buNone/>
            </a:pPr>
            <a:r>
              <a:rPr lang="en-US" sz="1400" dirty="0">
                <a:solidFill>
                  <a:srgbClr val="121212"/>
                </a:solidFill>
                <a:latin typeface="Calibri" pitchFamily="34" charset="0"/>
                <a:ea typeface="Calibri" pitchFamily="34" charset="-122"/>
                <a:cs typeface="Calibri" pitchFamily="34" charset="-120"/>
              </a:rPr>
              <a:t>Past |t| = 2.0 the threshold starts discarding real signal — this is where x3 is lost.</a:t>
            </a:r>
            <a:endParaRPr lang="en-US" sz="1400" dirty="0"/>
          </a:p>
        </p:txBody>
      </p:sp>
      <p:sp>
        <p:nvSpPr>
          <p:cNvPr id="14" name="Text 9"/>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15" name="Text 10"/>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10</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graphicFrame>
        <p:nvGraphicFramePr>
          <p:cNvPr id="6" name="Chart 0">
            <a:extLst>
              <a:ext uri="{FF2B5EF4-FFF2-40B4-BE49-F238E27FC236}">
                <a16:creationId xmlns:a16="http://schemas.microsoft.com/office/drawing/2014/main" id="{A7834FC6-E45D-9E5E-34FD-8C6C4ECBB24C}"/>
              </a:ext>
            </a:extLst>
          </p:cNvPr>
          <p:cNvGraphicFramePr/>
          <p:nvPr/>
        </p:nvGraphicFramePr>
        <p:xfrm>
          <a:off x="6827520" y="1780032"/>
          <a:ext cx="4983480" cy="26517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4415" cy="237744"/>
          </a:xfrm>
          <a:prstGeom prst="rect">
            <a:avLst/>
          </a:prstGeom>
          <a:noFill/>
          <a:ln/>
        </p:spPr>
        <p:txBody>
          <a:bodyPr wrap="square" lIns="0" tIns="0" rIns="0" bIns="0" rtlCol="0" anchor="ctr"/>
          <a:lstStyle/>
          <a:p>
            <a:pPr marL="0" indent="0">
              <a:buNone/>
            </a:pPr>
            <a:r>
              <a:rPr lang="en-US" sz="1100" b="1" kern="0" spc="160" dirty="0">
                <a:solidFill>
                  <a:srgbClr val="4F4F4F"/>
                </a:solidFill>
                <a:latin typeface="Calibri" pitchFamily="34" charset="0"/>
                <a:ea typeface="Calibri" pitchFamily="34" charset="-122"/>
                <a:cs typeface="Calibri" pitchFamily="34" charset="-120"/>
              </a:rPr>
              <a:t>FINAL MODEL  ·  10</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3000" b="1" dirty="0">
                <a:solidFill>
                  <a:srgbClr val="121212"/>
                </a:solidFill>
                <a:latin typeface="Cambria" pitchFamily="34" charset="0"/>
                <a:ea typeface="Cambria" pitchFamily="34" charset="-122"/>
                <a:cs typeface="Cambria" pitchFamily="34" charset="-120"/>
              </a:rPr>
              <a:t>The submitted model, and what to expect</a:t>
            </a:r>
            <a:endParaRPr lang="en-US" sz="3000" dirty="0"/>
          </a:p>
        </p:txBody>
      </p:sp>
      <p:sp>
        <p:nvSpPr>
          <p:cNvPr id="5" name="Shape 2"/>
          <p:cNvSpPr/>
          <p:nvPr/>
        </p:nvSpPr>
        <p:spPr>
          <a:xfrm>
            <a:off x="548640" y="1371600"/>
            <a:ext cx="2560320" cy="658368"/>
          </a:xfrm>
          <a:prstGeom prst="roundRect">
            <a:avLst>
              <a:gd name="adj" fmla="val 13889"/>
            </a:avLst>
          </a:prstGeom>
          <a:solidFill>
            <a:srgbClr val="EAEAEA"/>
          </a:solidFill>
          <a:ln w="12700">
            <a:solidFill>
              <a:srgbClr val="D2D2D2"/>
            </a:solidFill>
            <a:prstDash val="solid"/>
          </a:ln>
        </p:spPr>
        <p:txBody>
          <a:bodyPr/>
          <a:lstStyle/>
          <a:p>
            <a:endParaRPr lang="en-US"/>
          </a:p>
        </p:txBody>
      </p:sp>
      <p:sp>
        <p:nvSpPr>
          <p:cNvPr id="6" name="Text 3"/>
          <p:cNvSpPr txBox="1"/>
          <p:nvPr/>
        </p:nvSpPr>
        <p:spPr>
          <a:xfrm>
            <a:off x="548640" y="1371600"/>
            <a:ext cx="2560320" cy="658368"/>
          </a:xfrm>
          <a:prstGeom prst="rect">
            <a:avLst/>
          </a:prstGeom>
          <a:noFill/>
          <a:ln/>
        </p:spPr>
        <p:txBody>
          <a:bodyPr wrap="square" lIns="0" tIns="0" rIns="0" bIns="0" rtlCol="0" anchor="ctr"/>
          <a:lstStyle/>
          <a:p>
            <a:pPr marL="0" indent="0" algn="ctr">
              <a:buNone/>
            </a:pPr>
            <a:r>
              <a:rPr lang="en-US" sz="1400" b="1" dirty="0">
                <a:solidFill>
                  <a:srgbClr val="121212"/>
                </a:solidFill>
                <a:latin typeface="Calibri" pitchFamily="34" charset="0"/>
                <a:ea typeface="Calibri" pitchFamily="34" charset="-122"/>
                <a:cs typeface="Calibri" pitchFamily="34" charset="-120"/>
              </a:rPr>
              <a:t>Mean-impute</a:t>
            </a:r>
            <a:endParaRPr lang="en-US" sz="1400" dirty="0"/>
          </a:p>
        </p:txBody>
      </p:sp>
      <p:sp>
        <p:nvSpPr>
          <p:cNvPr id="7" name="Text 4"/>
          <p:cNvSpPr txBox="1"/>
          <p:nvPr/>
        </p:nvSpPr>
        <p:spPr>
          <a:xfrm>
            <a:off x="3108960" y="1371600"/>
            <a:ext cx="320040" cy="658368"/>
          </a:xfrm>
          <a:prstGeom prst="rect">
            <a:avLst/>
          </a:prstGeom>
          <a:noFill/>
          <a:ln/>
        </p:spPr>
        <p:txBody>
          <a:bodyPr wrap="square" lIns="0" tIns="0" rIns="0" bIns="0" rtlCol="0" anchor="ctr"/>
          <a:lstStyle/>
          <a:p>
            <a:pPr marL="0" indent="0" algn="ctr">
              <a:buNone/>
            </a:pPr>
            <a:r>
              <a:rPr lang="en-US" sz="1800" b="1" dirty="0">
                <a:solidFill>
                  <a:srgbClr val="6B6B6B"/>
                </a:solidFill>
                <a:latin typeface="Calibri" pitchFamily="34" charset="0"/>
                <a:ea typeface="Calibri" pitchFamily="34" charset="-122"/>
                <a:cs typeface="Calibri" pitchFamily="34" charset="-120"/>
              </a:rPr>
              <a:t>→</a:t>
            </a:r>
            <a:endParaRPr lang="en-US" sz="1800" dirty="0"/>
          </a:p>
        </p:txBody>
      </p:sp>
      <p:sp>
        <p:nvSpPr>
          <p:cNvPr id="8" name="Shape 5"/>
          <p:cNvSpPr/>
          <p:nvPr/>
        </p:nvSpPr>
        <p:spPr>
          <a:xfrm>
            <a:off x="3429000" y="1371600"/>
            <a:ext cx="2560320" cy="658368"/>
          </a:xfrm>
          <a:prstGeom prst="roundRect">
            <a:avLst>
              <a:gd name="adj" fmla="val 13889"/>
            </a:avLst>
          </a:prstGeom>
          <a:solidFill>
            <a:srgbClr val="EAEAEA"/>
          </a:solidFill>
          <a:ln w="12700">
            <a:solidFill>
              <a:srgbClr val="D2D2D2"/>
            </a:solidFill>
            <a:prstDash val="solid"/>
          </a:ln>
        </p:spPr>
        <p:txBody>
          <a:bodyPr/>
          <a:lstStyle/>
          <a:p>
            <a:endParaRPr lang="en-US"/>
          </a:p>
        </p:txBody>
      </p:sp>
      <p:sp>
        <p:nvSpPr>
          <p:cNvPr id="9" name="Text 6"/>
          <p:cNvSpPr txBox="1"/>
          <p:nvPr/>
        </p:nvSpPr>
        <p:spPr>
          <a:xfrm>
            <a:off x="3429000" y="1371600"/>
            <a:ext cx="2560320" cy="658368"/>
          </a:xfrm>
          <a:prstGeom prst="rect">
            <a:avLst/>
          </a:prstGeom>
          <a:noFill/>
          <a:ln/>
        </p:spPr>
        <p:txBody>
          <a:bodyPr wrap="square" lIns="0" tIns="0" rIns="0" bIns="0" rtlCol="0" anchor="ctr"/>
          <a:lstStyle/>
          <a:p>
            <a:pPr marL="0" indent="0" algn="ctr">
              <a:buNone/>
            </a:pPr>
            <a:r>
              <a:rPr lang="en-US" sz="1400" b="1" dirty="0">
                <a:solidFill>
                  <a:srgbClr val="121212"/>
                </a:solidFill>
                <a:latin typeface="Calibri" pitchFamily="34" charset="0"/>
                <a:ea typeface="Calibri" pitchFamily="34" charset="-122"/>
                <a:cs typeface="Calibri" pitchFamily="34" charset="-120"/>
              </a:rPr>
              <a:t>Standardize</a:t>
            </a:r>
            <a:endParaRPr lang="en-US" sz="1400" dirty="0"/>
          </a:p>
        </p:txBody>
      </p:sp>
      <p:sp>
        <p:nvSpPr>
          <p:cNvPr id="10" name="Text 7"/>
          <p:cNvSpPr txBox="1"/>
          <p:nvPr/>
        </p:nvSpPr>
        <p:spPr>
          <a:xfrm>
            <a:off x="5989320" y="1371600"/>
            <a:ext cx="320040" cy="658368"/>
          </a:xfrm>
          <a:prstGeom prst="rect">
            <a:avLst/>
          </a:prstGeom>
          <a:noFill/>
          <a:ln/>
        </p:spPr>
        <p:txBody>
          <a:bodyPr wrap="square" lIns="0" tIns="0" rIns="0" bIns="0" rtlCol="0" anchor="ctr"/>
          <a:lstStyle/>
          <a:p>
            <a:pPr marL="0" indent="0" algn="ctr">
              <a:buNone/>
            </a:pPr>
            <a:r>
              <a:rPr lang="en-US" sz="1800" b="1" dirty="0">
                <a:solidFill>
                  <a:srgbClr val="6B6B6B"/>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6309360" y="1371600"/>
            <a:ext cx="2560320" cy="658368"/>
          </a:xfrm>
          <a:prstGeom prst="roundRect">
            <a:avLst>
              <a:gd name="adj" fmla="val 13889"/>
            </a:avLst>
          </a:prstGeom>
          <a:solidFill>
            <a:srgbClr val="121212"/>
          </a:solidFill>
          <a:ln w="12700">
            <a:solidFill>
              <a:srgbClr val="121212"/>
            </a:solidFill>
            <a:prstDash val="solid"/>
          </a:ln>
        </p:spPr>
        <p:txBody>
          <a:bodyPr/>
          <a:lstStyle/>
          <a:p>
            <a:endParaRPr lang="en-US"/>
          </a:p>
        </p:txBody>
      </p:sp>
      <p:sp>
        <p:nvSpPr>
          <p:cNvPr id="12" name="Text 9"/>
          <p:cNvSpPr txBox="1"/>
          <p:nvPr/>
        </p:nvSpPr>
        <p:spPr>
          <a:xfrm>
            <a:off x="6309360" y="1371600"/>
            <a:ext cx="25603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Drop |t| &lt; 1.5</a:t>
            </a:r>
            <a:endParaRPr lang="en-US" sz="1400" dirty="0"/>
          </a:p>
        </p:txBody>
      </p:sp>
      <p:sp>
        <p:nvSpPr>
          <p:cNvPr id="13" name="Text 10"/>
          <p:cNvSpPr txBox="1"/>
          <p:nvPr/>
        </p:nvSpPr>
        <p:spPr>
          <a:xfrm>
            <a:off x="8869680" y="1371600"/>
            <a:ext cx="320040" cy="658368"/>
          </a:xfrm>
          <a:prstGeom prst="rect">
            <a:avLst/>
          </a:prstGeom>
          <a:noFill/>
          <a:ln/>
        </p:spPr>
        <p:txBody>
          <a:bodyPr wrap="square" lIns="0" tIns="0" rIns="0" bIns="0" rtlCol="0" anchor="ctr"/>
          <a:lstStyle/>
          <a:p>
            <a:pPr marL="0" indent="0" algn="ctr">
              <a:buNone/>
            </a:pPr>
            <a:r>
              <a:rPr lang="en-US" sz="1800" b="1" dirty="0">
                <a:solidFill>
                  <a:srgbClr val="6B6B6B"/>
                </a:solidFill>
                <a:latin typeface="Calibri" pitchFamily="34" charset="0"/>
                <a:ea typeface="Calibri" pitchFamily="34" charset="-122"/>
                <a:cs typeface="Calibri" pitchFamily="34" charset="-120"/>
              </a:rPr>
              <a:t>→</a:t>
            </a:r>
            <a:endParaRPr lang="en-US" sz="1800" dirty="0"/>
          </a:p>
        </p:txBody>
      </p:sp>
      <p:sp>
        <p:nvSpPr>
          <p:cNvPr id="14" name="Shape 11"/>
          <p:cNvSpPr/>
          <p:nvPr/>
        </p:nvSpPr>
        <p:spPr>
          <a:xfrm>
            <a:off x="9189720" y="1371600"/>
            <a:ext cx="2560320" cy="658368"/>
          </a:xfrm>
          <a:prstGeom prst="roundRect">
            <a:avLst>
              <a:gd name="adj" fmla="val 13889"/>
            </a:avLst>
          </a:prstGeom>
          <a:solidFill>
            <a:srgbClr val="EAEAEA"/>
          </a:solidFill>
          <a:ln w="12700">
            <a:solidFill>
              <a:srgbClr val="D2D2D2"/>
            </a:solidFill>
            <a:prstDash val="solid"/>
          </a:ln>
        </p:spPr>
        <p:txBody>
          <a:bodyPr/>
          <a:lstStyle/>
          <a:p>
            <a:endParaRPr lang="en-US"/>
          </a:p>
        </p:txBody>
      </p:sp>
      <p:sp>
        <p:nvSpPr>
          <p:cNvPr id="15" name="Text 12"/>
          <p:cNvSpPr txBox="1"/>
          <p:nvPr/>
        </p:nvSpPr>
        <p:spPr>
          <a:xfrm>
            <a:off x="9189720" y="1371600"/>
            <a:ext cx="2560320" cy="658368"/>
          </a:xfrm>
          <a:prstGeom prst="rect">
            <a:avLst/>
          </a:prstGeom>
          <a:noFill/>
          <a:ln/>
        </p:spPr>
        <p:txBody>
          <a:bodyPr wrap="square" lIns="0" tIns="0" rIns="0" bIns="0" rtlCol="0" anchor="ctr"/>
          <a:lstStyle/>
          <a:p>
            <a:pPr marL="0" indent="0" algn="ctr">
              <a:buNone/>
            </a:pPr>
            <a:r>
              <a:rPr lang="en-US" sz="1400" b="1" dirty="0">
                <a:solidFill>
                  <a:srgbClr val="121212"/>
                </a:solidFill>
                <a:latin typeface="Calibri" pitchFamily="34" charset="0"/>
                <a:ea typeface="Calibri" pitchFamily="34" charset="-122"/>
                <a:cs typeface="Calibri" pitchFamily="34" charset="-120"/>
              </a:rPr>
              <a:t>Ridge (α = 17)</a:t>
            </a:r>
            <a:endParaRPr lang="en-US" sz="1400" dirty="0"/>
          </a:p>
        </p:txBody>
      </p:sp>
      <p:sp>
        <p:nvSpPr>
          <p:cNvPr id="16" name="Text 13"/>
          <p:cNvSpPr txBox="1"/>
          <p:nvPr/>
        </p:nvSpPr>
        <p:spPr>
          <a:xfrm>
            <a:off x="548640" y="2148840"/>
            <a:ext cx="11094415" cy="274320"/>
          </a:xfrm>
          <a:prstGeom prst="rect">
            <a:avLst/>
          </a:prstGeom>
          <a:noFill/>
          <a:ln/>
        </p:spPr>
        <p:txBody>
          <a:bodyPr wrap="square" lIns="0" tIns="0" rIns="0" bIns="0" rtlCol="0" anchor="ctr"/>
          <a:lstStyle/>
          <a:p>
            <a:pPr marL="0" indent="0">
              <a:buNone/>
            </a:pPr>
            <a:r>
              <a:rPr lang="en-US" sz="1300" dirty="0">
                <a:solidFill>
                  <a:srgbClr val="6B6B6B"/>
                </a:solidFill>
                <a:latin typeface="Calibri" pitchFamily="34" charset="0"/>
                <a:ea typeface="Calibri" pitchFamily="34" charset="-122"/>
                <a:cs typeface="Calibri" pitchFamily="34" charset="-120"/>
              </a:rPr>
              <a:t>Dropped features: x1, x5, x8, x9, x11, x12.  Final prediction averages the thresholds {1.0, 1.5, 2.0}.</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4892040" cy="2194560"/>
        </p:xfrm>
        <a:graphic>
          <a:graphicData uri="http://schemas.openxmlformats.org/drawingml/2006/table">
            <a:tbl>
              <a:tblPr/>
              <a:tblGrid>
                <a:gridCol w="3063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121212"/>
                    </a:solidFill>
                  </a:tcPr>
                </a:tc>
                <a:extLst>
                  <a:ext uri="{0D108BD9-81ED-4DB2-BD59-A6C34878D82A}">
                    <a16:rowId xmlns:a16="http://schemas.microsoft.com/office/drawing/2014/main" val="10000"/>
                  </a:ext>
                </a:extLst>
              </a:tr>
              <a:tr h="365760">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Pooled OOF R²</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50" b="1" dirty="0">
                          <a:solidFill>
                            <a:srgbClr val="121212"/>
                          </a:solidFill>
                          <a:latin typeface="Calibri" pitchFamily="34" charset="0"/>
                          <a:ea typeface="Calibri" pitchFamily="34" charset="-122"/>
                          <a:cs typeface="Calibri" pitchFamily="34" charset="-120"/>
                        </a:rPr>
                        <a:t>0.53270</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1"/>
                  </a:ext>
                </a:extLst>
              </a:tr>
              <a:tr h="365760">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Δ vs OLS</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50" b="1" dirty="0">
                          <a:solidFill>
                            <a:srgbClr val="121212"/>
                          </a:solidFill>
                          <a:latin typeface="Calibri" pitchFamily="34" charset="0"/>
                          <a:ea typeface="Calibri" pitchFamily="34" charset="-122"/>
                          <a:cs typeface="Calibri" pitchFamily="34" charset="-120"/>
                        </a:rPr>
                        <a:t>+0.00116</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2"/>
                  </a:ext>
                </a:extLst>
              </a:tr>
              <a:tr h="365760">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SE</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50" dirty="0">
                          <a:solidFill>
                            <a:srgbClr val="121212"/>
                          </a:solidFill>
                          <a:latin typeface="Calibri" pitchFamily="34" charset="0"/>
                          <a:ea typeface="Calibri" pitchFamily="34" charset="-122"/>
                          <a:cs typeface="Calibri" pitchFamily="34" charset="-120"/>
                        </a:rPr>
                        <a:t>0.00018</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3"/>
                  </a:ext>
                </a:extLst>
              </a:tr>
              <a:tr h="365760">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Public LB baseline</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50" dirty="0">
                          <a:solidFill>
                            <a:srgbClr val="121212"/>
                          </a:solidFill>
                          <a:latin typeface="Calibri" pitchFamily="34" charset="0"/>
                          <a:ea typeface="Calibri" pitchFamily="34" charset="-122"/>
                          <a:cs typeface="Calibri" pitchFamily="34" charset="-120"/>
                        </a:rPr>
                        <a:t>0.56969</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4"/>
                  </a:ext>
                </a:extLst>
              </a:tr>
              <a:tr h="365760">
                <a:tc>
                  <a:txBody>
                    <a:bodyPr/>
                    <a:lstStyle/>
                    <a:p>
                      <a:pPr marL="0" indent="0">
                        <a:buNone/>
                      </a:pPr>
                      <a:r>
                        <a:rPr lang="en-US" sz="1250" dirty="0">
                          <a:solidFill>
                            <a:srgbClr val="121212"/>
                          </a:solidFill>
                          <a:latin typeface="Calibri" pitchFamily="34" charset="0"/>
                          <a:ea typeface="Calibri" pitchFamily="34" charset="-122"/>
                          <a:cs typeface="Calibri" pitchFamily="34" charset="-120"/>
                        </a:rPr>
                        <a:t>Public LB top</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tc>
                  <a:txBody>
                    <a:bodyPr/>
                    <a:lstStyle/>
                    <a:p>
                      <a:pPr marL="0" indent="0" algn="r">
                        <a:buNone/>
                      </a:pPr>
                      <a:r>
                        <a:rPr lang="en-US" sz="1250" dirty="0">
                          <a:solidFill>
                            <a:srgbClr val="121212"/>
                          </a:solidFill>
                          <a:latin typeface="Calibri" pitchFamily="34" charset="0"/>
                          <a:ea typeface="Calibri" pitchFamily="34" charset="-122"/>
                          <a:cs typeface="Calibri" pitchFamily="34" charset="-120"/>
                        </a:rPr>
                        <a:t>0.57186</a:t>
                      </a:r>
                      <a:endParaRPr lang="en-US" sz="1250" dirty="0">
                        <a:latin typeface="Calibri" charset="0"/>
                        <a:ea typeface="Calibri" charset="0"/>
                        <a:cs typeface="Calibri" charset="0"/>
                      </a:endParaRPr>
                    </a:p>
                  </a:txBody>
                  <a:tcPr anchor="ctr">
                    <a:lnL w="12700" cap="flat" cmpd="sng" algn="ctr">
                      <a:solidFill>
                        <a:srgbClr val="D2D2D2"/>
                      </a:solidFill>
                      <a:prstDash val="solid"/>
                      <a:round/>
                      <a:headEnd type="none" w="med" len="med"/>
                      <a:tailEnd type="none" w="med" len="med"/>
                    </a:lnL>
                    <a:lnR w="12700" cap="flat" cmpd="sng" algn="ctr">
                      <a:solidFill>
                        <a:srgbClr val="D2D2D2"/>
                      </a:solidFill>
                      <a:prstDash val="solid"/>
                      <a:round/>
                      <a:headEnd type="none" w="med" len="med"/>
                      <a:tailEnd type="none" w="med" len="med"/>
                    </a:lnR>
                    <a:lnT w="12700" cap="flat" cmpd="sng" algn="ctr">
                      <a:solidFill>
                        <a:srgbClr val="D2D2D2"/>
                      </a:solidFill>
                      <a:prstDash val="solid"/>
                      <a:round/>
                      <a:headEnd type="none" w="med" len="med"/>
                      <a:tailEnd type="none" w="med" len="med"/>
                    </a:lnT>
                    <a:lnB w="12700" cap="flat" cmpd="sng" algn="ctr">
                      <a:solidFill>
                        <a:srgbClr val="D2D2D2"/>
                      </a:solidFill>
                      <a:prstDash val="solid"/>
                      <a:round/>
                      <a:headEnd type="none" w="med" len="med"/>
                      <a:tailEnd type="none" w="med" len="med"/>
                    </a:lnB>
                    <a:solidFill>
                      <a:srgbClr val="F6F6F6"/>
                    </a:solidFill>
                  </a:tcPr>
                </a:tc>
                <a:extLst>
                  <a:ext uri="{0D108BD9-81ED-4DB2-BD59-A6C34878D82A}">
                    <a16:rowId xmlns:a16="http://schemas.microsoft.com/office/drawing/2014/main" val="10005"/>
                  </a:ext>
                </a:extLst>
              </a:tr>
            </a:tbl>
          </a:graphicData>
        </a:graphic>
      </p:graphicFrame>
      <p:sp>
        <p:nvSpPr>
          <p:cNvPr id="18" name="Shape 14"/>
          <p:cNvSpPr/>
          <p:nvPr/>
        </p:nvSpPr>
        <p:spPr>
          <a:xfrm>
            <a:off x="5897880" y="2606040"/>
            <a:ext cx="5745175" cy="2331720"/>
          </a:xfrm>
          <a:prstGeom prst="roundRect">
            <a:avLst>
              <a:gd name="adj" fmla="val 3137"/>
            </a:avLst>
          </a:prstGeom>
          <a:solidFill>
            <a:srgbClr val="FFFFFF"/>
          </a:solidFill>
          <a:ln w="12700">
            <a:solidFill>
              <a:srgbClr val="D2D2D2"/>
            </a:solidFill>
            <a:prstDash val="solid"/>
          </a:ln>
          <a:effectLst>
            <a:outerShdw blurRad="101600" dist="12700" dir="5400000" algn="bl" rotWithShape="0">
              <a:srgbClr val="AAAAAA">
                <a:alpha val="18000"/>
              </a:srgbClr>
            </a:outerShdw>
          </a:effectLst>
        </p:spPr>
        <p:txBody>
          <a:bodyPr/>
          <a:lstStyle/>
          <a:p>
            <a:endParaRPr lang="en-US"/>
          </a:p>
        </p:txBody>
      </p:sp>
      <p:sp>
        <p:nvSpPr>
          <p:cNvPr id="19" name="Text 15"/>
          <p:cNvSpPr txBox="1"/>
          <p:nvPr/>
        </p:nvSpPr>
        <p:spPr>
          <a:xfrm>
            <a:off x="6172200" y="2788920"/>
            <a:ext cx="5196535" cy="274320"/>
          </a:xfrm>
          <a:prstGeom prst="rect">
            <a:avLst/>
          </a:prstGeom>
          <a:noFill/>
          <a:ln/>
        </p:spPr>
        <p:txBody>
          <a:bodyPr wrap="square" lIns="0" tIns="0" rIns="0" bIns="0" rtlCol="0" anchor="ctr"/>
          <a:lstStyle/>
          <a:p>
            <a:pPr marL="0" indent="0">
              <a:buNone/>
            </a:pPr>
            <a:r>
              <a:rPr lang="en-US" sz="1400" b="1" dirty="0">
                <a:solidFill>
                  <a:srgbClr val="121212"/>
                </a:solidFill>
                <a:latin typeface="Calibri" pitchFamily="34" charset="0"/>
                <a:ea typeface="Calibri" pitchFamily="34" charset="-122"/>
                <a:cs typeface="Calibri" pitchFamily="34" charset="-120"/>
              </a:rPr>
              <a:t>Expectations, stated honestly</a:t>
            </a:r>
            <a:endParaRPr lang="en-US" sz="1400" dirty="0"/>
          </a:p>
        </p:txBody>
      </p:sp>
      <p:sp>
        <p:nvSpPr>
          <p:cNvPr id="20" name="Text 16"/>
          <p:cNvSpPr txBox="1"/>
          <p:nvPr/>
        </p:nvSpPr>
        <p:spPr>
          <a:xfrm>
            <a:off x="6217920" y="3154680"/>
            <a:ext cx="5059375" cy="164592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400" dirty="0">
                <a:solidFill>
                  <a:srgbClr val="121212"/>
                </a:solidFill>
                <a:latin typeface="Calibri" pitchFamily="34" charset="0"/>
                <a:ea typeface="Calibri" pitchFamily="34" charset="-122"/>
                <a:cs typeface="Calibri" pitchFamily="34" charset="-120"/>
              </a:rPr>
              <a:t>The public leaderboard covers 48% of the test set; final standings use the other 52%.</a:t>
            </a:r>
            <a:endParaRPr lang="en-US" sz="1400" dirty="0"/>
          </a:p>
          <a:p>
            <a:pPr marL="342900" indent="-342900">
              <a:lnSpc>
                <a:spcPts val="1800"/>
              </a:lnSpc>
              <a:spcAft>
                <a:spcPts val="1000"/>
              </a:spcAft>
              <a:buSzPct val="100000"/>
              <a:buChar char="•"/>
            </a:pPr>
            <a:r>
              <a:rPr lang="en-US" sz="1400" dirty="0">
                <a:solidFill>
                  <a:srgbClr val="121212"/>
                </a:solidFill>
                <a:latin typeface="Calibri" pitchFamily="34" charset="0"/>
                <a:ea typeface="Calibri" pitchFamily="34" charset="-122"/>
                <a:cs typeface="Calibri" pitchFamily="34" charset="-120"/>
              </a:rPr>
              <a:t>+0.0011 over ~1,200 rows should clear the baseline, but not by a comfortable margin.</a:t>
            </a:r>
            <a:endParaRPr lang="en-US" sz="1400" dirty="0"/>
          </a:p>
          <a:p>
            <a:pPr marL="342900" indent="-342900">
              <a:lnSpc>
                <a:spcPts val="1800"/>
              </a:lnSpc>
              <a:spcAft>
                <a:spcPts val="1000"/>
              </a:spcAft>
              <a:buSzPct val="100000"/>
              <a:buChar char="•"/>
            </a:pPr>
            <a:r>
              <a:rPr lang="en-US" sz="1400" dirty="0">
                <a:solidFill>
                  <a:srgbClr val="121212"/>
                </a:solidFill>
                <a:latin typeface="Calibri" pitchFamily="34" charset="0"/>
                <a:ea typeface="Calibri" pitchFamily="34" charset="-122"/>
                <a:cs typeface="Calibri" pitchFamily="34" charset="-120"/>
              </a:rPr>
              <a:t>At this scale, differences between reasonable models are largely luck-of-the-split.</a:t>
            </a:r>
            <a:endParaRPr lang="en-US" sz="1400" dirty="0"/>
          </a:p>
        </p:txBody>
      </p:sp>
      <p:sp>
        <p:nvSpPr>
          <p:cNvPr id="21" name="Shape 17"/>
          <p:cNvSpPr/>
          <p:nvPr/>
        </p:nvSpPr>
        <p:spPr>
          <a:xfrm>
            <a:off x="548640" y="5120640"/>
            <a:ext cx="11094415" cy="822960"/>
          </a:xfrm>
          <a:prstGeom prst="roundRect">
            <a:avLst>
              <a:gd name="adj" fmla="val 8889"/>
            </a:avLst>
          </a:prstGeom>
          <a:solidFill>
            <a:srgbClr val="121212"/>
          </a:solidFill>
          <a:ln w="12700">
            <a:solidFill>
              <a:srgbClr val="121212"/>
            </a:solidFill>
            <a:prstDash val="solid"/>
          </a:ln>
          <a:effectLst>
            <a:outerShdw blurRad="101600" dist="12700" dir="5400000" algn="bl" rotWithShape="0">
              <a:srgbClr val="AAAAAA">
                <a:alpha val="18000"/>
              </a:srgbClr>
            </a:outerShdw>
          </a:effectLst>
        </p:spPr>
        <p:txBody>
          <a:bodyPr/>
          <a:lstStyle/>
          <a:p>
            <a:endParaRPr lang="en-US"/>
          </a:p>
        </p:txBody>
      </p:sp>
      <p:sp>
        <p:nvSpPr>
          <p:cNvPr id="22" name="Text 18"/>
          <p:cNvSpPr txBox="1"/>
          <p:nvPr/>
        </p:nvSpPr>
        <p:spPr>
          <a:xfrm>
            <a:off x="868680" y="5120640"/>
            <a:ext cx="10454335"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Submit the nested estimate — not whichever model happened to score best on the public half.</a:t>
            </a:r>
            <a:endParaRPr lang="en-US" sz="1600" dirty="0"/>
          </a:p>
        </p:txBody>
      </p:sp>
      <p:sp>
        <p:nvSpPr>
          <p:cNvPr id="23" name="Text 19"/>
          <p:cNvSpPr txBox="1"/>
          <p:nvPr/>
        </p:nvSpPr>
        <p:spPr>
          <a:xfrm>
            <a:off x="548640" y="6355080"/>
            <a:ext cx="73152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MSCS-2202  ·  Machine Learning  ·  Praful Maka</a:t>
            </a:r>
            <a:endParaRPr lang="en-US" sz="900" dirty="0"/>
          </a:p>
        </p:txBody>
      </p:sp>
      <p:sp>
        <p:nvSpPr>
          <p:cNvPr id="24" name="Text 20"/>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3A3A3A"/>
                </a:solidFill>
                <a:latin typeface="Calibri" pitchFamily="34" charset="0"/>
                <a:ea typeface="Calibri" pitchFamily="34" charset="-122"/>
                <a:cs typeface="Calibri" pitchFamily="34" charset="-120"/>
              </a:rPr>
              <a:t>11</a:t>
            </a:r>
            <a:r>
              <a:rPr lang="en-US" sz="1000" dirty="0">
                <a:solidFill>
                  <a:srgbClr val="6B6B6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10424160" y="-1280160"/>
            <a:ext cx="3840480" cy="3840480"/>
          </a:xfrm>
          <a:prstGeom prst="ellipse">
            <a:avLst/>
          </a:prstGeom>
          <a:solidFill>
            <a:srgbClr val="2E2E2E">
              <a:alpha val="60000"/>
            </a:srgbClr>
          </a:solidFill>
          <a:ln w="12700">
            <a:solidFill>
              <a:srgbClr val="2E2E2E">
                <a:alpha val="0"/>
              </a:srgbClr>
            </a:solidFill>
            <a:prstDash val="solid"/>
          </a:ln>
        </p:spPr>
        <p:txBody>
          <a:bodyPr/>
          <a:lstStyle/>
          <a:p>
            <a:endParaRPr lang="en-US"/>
          </a:p>
        </p:txBody>
      </p:sp>
      <p:sp>
        <p:nvSpPr>
          <p:cNvPr id="3" name="Text 1"/>
          <p:cNvSpPr txBox="1"/>
          <p:nvPr/>
        </p:nvSpPr>
        <p:spPr>
          <a:xfrm>
            <a:off x="548640" y="502920"/>
            <a:ext cx="11094415" cy="237744"/>
          </a:xfrm>
          <a:prstGeom prst="rect">
            <a:avLst/>
          </a:prstGeom>
          <a:noFill/>
          <a:ln/>
        </p:spPr>
        <p:txBody>
          <a:bodyPr wrap="square" lIns="0" tIns="0" rIns="0" bIns="0" rtlCol="0" anchor="ctr"/>
          <a:lstStyle/>
          <a:p>
            <a:pPr marL="0" indent="0">
              <a:buNone/>
            </a:pPr>
            <a:r>
              <a:rPr lang="en-US" sz="1100" b="1" kern="0" spc="160" dirty="0">
                <a:solidFill>
                  <a:srgbClr val="D9D9D9"/>
                </a:solidFill>
                <a:latin typeface="Calibri" pitchFamily="34" charset="0"/>
                <a:ea typeface="Calibri" pitchFamily="34" charset="-122"/>
                <a:cs typeface="Calibri" pitchFamily="34" charset="-120"/>
              </a:rPr>
              <a:t>TAKEAWAYS  ·  11</a:t>
            </a:r>
            <a:endParaRPr lang="en-US" sz="1100" dirty="0"/>
          </a:p>
        </p:txBody>
      </p:sp>
      <p:sp>
        <p:nvSpPr>
          <p:cNvPr id="5" name="Text 2"/>
          <p:cNvSpPr txBox="1"/>
          <p:nvPr/>
        </p:nvSpPr>
        <p:spPr>
          <a:xfrm>
            <a:off x="548640" y="777240"/>
            <a:ext cx="11094415"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I would tell the next person</a:t>
            </a:r>
            <a:endParaRPr lang="en-US" sz="3200" dirty="0"/>
          </a:p>
        </p:txBody>
      </p:sp>
      <p:sp>
        <p:nvSpPr>
          <p:cNvPr id="6" name="Shape 3"/>
          <p:cNvSpPr/>
          <p:nvPr/>
        </p:nvSpPr>
        <p:spPr>
          <a:xfrm>
            <a:off x="548640" y="1572768"/>
            <a:ext cx="5367528" cy="1554480"/>
          </a:xfrm>
          <a:prstGeom prst="roundRect">
            <a:avLst>
              <a:gd name="adj" fmla="val 4706"/>
            </a:avLst>
          </a:prstGeom>
          <a:solidFill>
            <a:srgbClr val="3A3A3A">
              <a:alpha val="65000"/>
            </a:srgbClr>
          </a:solidFill>
          <a:ln w="12700">
            <a:solidFill>
              <a:srgbClr val="4A4A4A"/>
            </a:solidFill>
            <a:prstDash val="solid"/>
          </a:ln>
        </p:spPr>
        <p:txBody>
          <a:bodyPr/>
          <a:lstStyle/>
          <a:p>
            <a:endParaRPr lang="en-US"/>
          </a:p>
        </p:txBody>
      </p:sp>
      <p:sp>
        <p:nvSpPr>
          <p:cNvPr id="7" name="Text 4"/>
          <p:cNvSpPr txBox="1"/>
          <p:nvPr/>
        </p:nvSpPr>
        <p:spPr>
          <a:xfrm>
            <a:off x="822960" y="1755648"/>
            <a:ext cx="640080" cy="365760"/>
          </a:xfrm>
          <a:prstGeom prst="rect">
            <a:avLst/>
          </a:prstGeom>
          <a:noFill/>
          <a:ln/>
        </p:spPr>
        <p:txBody>
          <a:bodyPr wrap="square" lIns="0" tIns="0" rIns="0" bIns="0" rtlCol="0" anchor="ctr"/>
          <a:lstStyle/>
          <a:p>
            <a:pPr marL="0" indent="0">
              <a:buNone/>
            </a:pPr>
            <a:r>
              <a:rPr lang="en-US" sz="2000" b="1" dirty="0">
                <a:solidFill>
                  <a:srgbClr val="D9D9D9"/>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508760" y="1755648"/>
            <a:ext cx="4160520" cy="384048"/>
          </a:xfrm>
          <a:prstGeom prst="rect">
            <a:avLst/>
          </a:prstGeom>
          <a:noFill/>
          <a:ln/>
        </p:spPr>
        <p:txBody>
          <a:bodyPr wrap="square" lIns="0" tIns="0" rIns="0" bIns="0"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Fix the measurement before tuning the model.</a:t>
            </a:r>
            <a:endParaRPr lang="en-US" sz="1600" dirty="0"/>
          </a:p>
        </p:txBody>
      </p:sp>
      <p:sp>
        <p:nvSpPr>
          <p:cNvPr id="9" name="Text 6"/>
          <p:cNvSpPr txBox="1"/>
          <p:nvPr/>
        </p:nvSpPr>
        <p:spPr>
          <a:xfrm>
            <a:off x="1508760" y="2176272"/>
            <a:ext cx="4160520" cy="822960"/>
          </a:xfrm>
          <a:prstGeom prst="rect">
            <a:avLst/>
          </a:prstGeom>
          <a:noFill/>
          <a:ln/>
        </p:spPr>
        <p:txBody>
          <a:bodyPr wrap="square" lIns="0" tIns="0" rIns="0" bIns="0" rtlCol="0" anchor="ctr"/>
          <a:lstStyle/>
          <a:p>
            <a:pPr marL="0" indent="0">
              <a:lnSpc>
                <a:spcPts val="1600"/>
              </a:lnSpc>
              <a:buNone/>
            </a:pPr>
            <a:r>
              <a:rPr lang="en-US" sz="1400" dirty="0">
                <a:solidFill>
                  <a:srgbClr val="BFBFBF"/>
                </a:solidFill>
                <a:latin typeface="Calibri" pitchFamily="34" charset="0"/>
                <a:ea typeface="Calibri" pitchFamily="34" charset="-122"/>
                <a:cs typeface="Calibri" pitchFamily="34" charset="-120"/>
              </a:rPr>
              <a:t>Nothing below 0.05 was detectable under the default protocol — and the entire result lives at 0.001.</a:t>
            </a:r>
            <a:endParaRPr lang="en-US" sz="1400" dirty="0"/>
          </a:p>
        </p:txBody>
      </p:sp>
      <p:sp>
        <p:nvSpPr>
          <p:cNvPr id="10" name="Shape 7"/>
          <p:cNvSpPr/>
          <p:nvPr/>
        </p:nvSpPr>
        <p:spPr>
          <a:xfrm>
            <a:off x="6263640" y="1572768"/>
            <a:ext cx="5367528" cy="1554480"/>
          </a:xfrm>
          <a:prstGeom prst="roundRect">
            <a:avLst>
              <a:gd name="adj" fmla="val 4706"/>
            </a:avLst>
          </a:prstGeom>
          <a:solidFill>
            <a:srgbClr val="3A3A3A">
              <a:alpha val="65000"/>
            </a:srgbClr>
          </a:solidFill>
          <a:ln w="12700">
            <a:solidFill>
              <a:srgbClr val="4A4A4A"/>
            </a:solidFill>
            <a:prstDash val="solid"/>
          </a:ln>
        </p:spPr>
        <p:txBody>
          <a:bodyPr/>
          <a:lstStyle/>
          <a:p>
            <a:endParaRPr lang="en-US"/>
          </a:p>
        </p:txBody>
      </p:sp>
      <p:sp>
        <p:nvSpPr>
          <p:cNvPr id="11" name="Text 8"/>
          <p:cNvSpPr txBox="1"/>
          <p:nvPr/>
        </p:nvSpPr>
        <p:spPr>
          <a:xfrm>
            <a:off x="6537960" y="1755648"/>
            <a:ext cx="640080" cy="365760"/>
          </a:xfrm>
          <a:prstGeom prst="rect">
            <a:avLst/>
          </a:prstGeom>
          <a:noFill/>
          <a:ln/>
        </p:spPr>
        <p:txBody>
          <a:bodyPr wrap="square" lIns="0" tIns="0" rIns="0" bIns="0" rtlCol="0" anchor="ctr"/>
          <a:lstStyle/>
          <a:p>
            <a:pPr marL="0" indent="0">
              <a:buNone/>
            </a:pPr>
            <a:r>
              <a:rPr lang="en-US" sz="2000" b="1" dirty="0">
                <a:solidFill>
                  <a:srgbClr val="D9D9D9"/>
                </a:solidFill>
                <a:latin typeface="Cambria" pitchFamily="34" charset="0"/>
                <a:ea typeface="Cambria" pitchFamily="34" charset="-122"/>
                <a:cs typeface="Cambria" pitchFamily="34" charset="-120"/>
              </a:rPr>
              <a:t>02</a:t>
            </a:r>
            <a:endParaRPr lang="en-US" sz="2000" dirty="0"/>
          </a:p>
        </p:txBody>
      </p:sp>
      <p:sp>
        <p:nvSpPr>
          <p:cNvPr id="12" name="Text 9"/>
          <p:cNvSpPr txBox="1"/>
          <p:nvPr/>
        </p:nvSpPr>
        <p:spPr>
          <a:xfrm>
            <a:off x="7223760" y="1755648"/>
            <a:ext cx="4160520" cy="384048"/>
          </a:xfrm>
          <a:prstGeom prst="rect">
            <a:avLst/>
          </a:prstGeom>
          <a:noFill/>
          <a:ln/>
        </p:spPr>
        <p:txBody>
          <a:bodyPr wrap="square" lIns="0" tIns="0" rIns="0" bIns="0"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Check whether your validation is honest.</a:t>
            </a:r>
            <a:endParaRPr lang="en-US" sz="1600" dirty="0"/>
          </a:p>
        </p:txBody>
      </p:sp>
      <p:sp>
        <p:nvSpPr>
          <p:cNvPr id="13" name="Text 10"/>
          <p:cNvSpPr txBox="1"/>
          <p:nvPr/>
        </p:nvSpPr>
        <p:spPr>
          <a:xfrm>
            <a:off x="7223760" y="2176272"/>
            <a:ext cx="4160520" cy="822960"/>
          </a:xfrm>
          <a:prstGeom prst="rect">
            <a:avLst/>
          </a:prstGeom>
          <a:noFill/>
          <a:ln/>
        </p:spPr>
        <p:txBody>
          <a:bodyPr wrap="square" lIns="0" tIns="0" rIns="0" bIns="0" rtlCol="0" anchor="ctr"/>
          <a:lstStyle/>
          <a:p>
            <a:pPr marL="0" indent="0">
              <a:lnSpc>
                <a:spcPts val="1600"/>
              </a:lnSpc>
              <a:buNone/>
            </a:pPr>
            <a:r>
              <a:rPr lang="en-US" sz="1400" dirty="0">
                <a:solidFill>
                  <a:srgbClr val="BFBFBF"/>
                </a:solidFill>
                <a:latin typeface="Calibri" pitchFamily="34" charset="0"/>
                <a:ea typeface="Calibri" pitchFamily="34" charset="-122"/>
                <a:cs typeface="Calibri" pitchFamily="34" charset="-120"/>
              </a:rPr>
              <a:t>The leaky feature-selection estimate was twice the real one. Both numbers are in the notebook on purpose.</a:t>
            </a:r>
            <a:endParaRPr lang="en-US" sz="1400" dirty="0"/>
          </a:p>
        </p:txBody>
      </p:sp>
      <p:sp>
        <p:nvSpPr>
          <p:cNvPr id="14" name="Shape 11"/>
          <p:cNvSpPr/>
          <p:nvPr/>
        </p:nvSpPr>
        <p:spPr>
          <a:xfrm>
            <a:off x="548640" y="3355848"/>
            <a:ext cx="5367528" cy="1554480"/>
          </a:xfrm>
          <a:prstGeom prst="roundRect">
            <a:avLst>
              <a:gd name="adj" fmla="val 4706"/>
            </a:avLst>
          </a:prstGeom>
          <a:solidFill>
            <a:srgbClr val="3A3A3A">
              <a:alpha val="65000"/>
            </a:srgbClr>
          </a:solidFill>
          <a:ln w="12700">
            <a:solidFill>
              <a:srgbClr val="4A4A4A"/>
            </a:solidFill>
            <a:prstDash val="solid"/>
          </a:ln>
        </p:spPr>
        <p:txBody>
          <a:bodyPr/>
          <a:lstStyle/>
          <a:p>
            <a:endParaRPr lang="en-US"/>
          </a:p>
        </p:txBody>
      </p:sp>
      <p:sp>
        <p:nvSpPr>
          <p:cNvPr id="15" name="Text 12"/>
          <p:cNvSpPr txBox="1"/>
          <p:nvPr/>
        </p:nvSpPr>
        <p:spPr>
          <a:xfrm>
            <a:off x="822960" y="3538728"/>
            <a:ext cx="640080" cy="365760"/>
          </a:xfrm>
          <a:prstGeom prst="rect">
            <a:avLst/>
          </a:prstGeom>
          <a:noFill/>
          <a:ln/>
        </p:spPr>
        <p:txBody>
          <a:bodyPr wrap="square" lIns="0" tIns="0" rIns="0" bIns="0" rtlCol="0" anchor="ctr"/>
          <a:lstStyle/>
          <a:p>
            <a:pPr marL="0" indent="0">
              <a:buNone/>
            </a:pPr>
            <a:r>
              <a:rPr lang="en-US" sz="2000" b="1" dirty="0">
                <a:solidFill>
                  <a:srgbClr val="D9D9D9"/>
                </a:solidFill>
                <a:latin typeface="Cambria" pitchFamily="34" charset="0"/>
                <a:ea typeface="Cambria" pitchFamily="34" charset="-122"/>
                <a:cs typeface="Cambria" pitchFamily="34" charset="-120"/>
              </a:rPr>
              <a:t>03</a:t>
            </a:r>
            <a:endParaRPr lang="en-US" sz="2000" dirty="0"/>
          </a:p>
        </p:txBody>
      </p:sp>
      <p:sp>
        <p:nvSpPr>
          <p:cNvPr id="16" name="Text 13"/>
          <p:cNvSpPr txBox="1"/>
          <p:nvPr/>
        </p:nvSpPr>
        <p:spPr>
          <a:xfrm>
            <a:off x="1508760" y="3538728"/>
            <a:ext cx="4160520" cy="384048"/>
          </a:xfrm>
          <a:prstGeom prst="rect">
            <a:avLst/>
          </a:prstGeom>
          <a:noFill/>
          <a:ln/>
        </p:spPr>
        <p:txBody>
          <a:bodyPr wrap="square" lIns="0" tIns="0" rIns="0" bIns="0"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Prefer the test that can falsify.</a:t>
            </a:r>
            <a:endParaRPr lang="en-US" sz="1600" dirty="0"/>
          </a:p>
        </p:txBody>
      </p:sp>
      <p:sp>
        <p:nvSpPr>
          <p:cNvPr id="17" name="Text 14"/>
          <p:cNvSpPr txBox="1"/>
          <p:nvPr/>
        </p:nvSpPr>
        <p:spPr>
          <a:xfrm>
            <a:off x="1508760" y="3959352"/>
            <a:ext cx="4160520" cy="822960"/>
          </a:xfrm>
          <a:prstGeom prst="rect">
            <a:avLst/>
          </a:prstGeom>
          <a:noFill/>
          <a:ln/>
        </p:spPr>
        <p:txBody>
          <a:bodyPr wrap="square" lIns="0" tIns="0" rIns="0" bIns="0" rtlCol="0" anchor="ctr"/>
          <a:lstStyle/>
          <a:p>
            <a:pPr marL="0" indent="0">
              <a:lnSpc>
                <a:spcPts val="1600"/>
              </a:lnSpc>
              <a:buNone/>
            </a:pPr>
            <a:r>
              <a:rPr lang="en-US" sz="1400" dirty="0">
                <a:solidFill>
                  <a:srgbClr val="BFBFBF"/>
                </a:solidFill>
                <a:latin typeface="Calibri" pitchFamily="34" charset="0"/>
                <a:ea typeface="Calibri" pitchFamily="34" charset="-122"/>
                <a:cs typeface="Calibri" pitchFamily="34" charset="-120"/>
              </a:rPr>
              <a:t>“Robust losses should help with kurtosis 28” is an argument. Sweeping ε and watching the score fall monotonically is a result.</a:t>
            </a:r>
            <a:endParaRPr lang="en-US" sz="1400" dirty="0"/>
          </a:p>
        </p:txBody>
      </p:sp>
      <p:sp>
        <p:nvSpPr>
          <p:cNvPr id="18" name="Shape 15"/>
          <p:cNvSpPr/>
          <p:nvPr/>
        </p:nvSpPr>
        <p:spPr>
          <a:xfrm>
            <a:off x="6263640" y="3355848"/>
            <a:ext cx="5367528" cy="1554480"/>
          </a:xfrm>
          <a:prstGeom prst="roundRect">
            <a:avLst>
              <a:gd name="adj" fmla="val 4706"/>
            </a:avLst>
          </a:prstGeom>
          <a:solidFill>
            <a:srgbClr val="3A3A3A">
              <a:alpha val="65000"/>
            </a:srgbClr>
          </a:solidFill>
          <a:ln w="12700">
            <a:solidFill>
              <a:srgbClr val="4A4A4A"/>
            </a:solidFill>
            <a:prstDash val="solid"/>
          </a:ln>
        </p:spPr>
        <p:txBody>
          <a:bodyPr/>
          <a:lstStyle/>
          <a:p>
            <a:endParaRPr lang="en-US"/>
          </a:p>
        </p:txBody>
      </p:sp>
      <p:sp>
        <p:nvSpPr>
          <p:cNvPr id="19" name="Text 16"/>
          <p:cNvSpPr txBox="1"/>
          <p:nvPr/>
        </p:nvSpPr>
        <p:spPr>
          <a:xfrm>
            <a:off x="6537960" y="3538728"/>
            <a:ext cx="640080" cy="365760"/>
          </a:xfrm>
          <a:prstGeom prst="rect">
            <a:avLst/>
          </a:prstGeom>
          <a:noFill/>
          <a:ln/>
        </p:spPr>
        <p:txBody>
          <a:bodyPr wrap="square" lIns="0" tIns="0" rIns="0" bIns="0" rtlCol="0" anchor="ctr"/>
          <a:lstStyle/>
          <a:p>
            <a:pPr marL="0" indent="0">
              <a:buNone/>
            </a:pPr>
            <a:r>
              <a:rPr lang="en-US" sz="2000" b="1" dirty="0">
                <a:solidFill>
                  <a:srgbClr val="D9D9D9"/>
                </a:solidFill>
                <a:latin typeface="Cambria" pitchFamily="34" charset="0"/>
                <a:ea typeface="Cambria" pitchFamily="34" charset="-122"/>
                <a:cs typeface="Cambria" pitchFamily="34" charset="-120"/>
              </a:rPr>
              <a:t>04</a:t>
            </a:r>
            <a:endParaRPr lang="en-US" sz="2000" dirty="0"/>
          </a:p>
        </p:txBody>
      </p:sp>
      <p:sp>
        <p:nvSpPr>
          <p:cNvPr id="20" name="Text 17"/>
          <p:cNvSpPr txBox="1"/>
          <p:nvPr/>
        </p:nvSpPr>
        <p:spPr>
          <a:xfrm>
            <a:off x="7223760" y="3538728"/>
            <a:ext cx="4160520" cy="384048"/>
          </a:xfrm>
          <a:prstGeom prst="rect">
            <a:avLst/>
          </a:prstGeom>
          <a:noFill/>
          <a:ln/>
        </p:spPr>
        <p:txBody>
          <a:bodyPr wrap="square" lIns="0" tIns="0" rIns="0" bIns="0"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Complexity was never the answer here.</a:t>
            </a:r>
            <a:endParaRPr lang="en-US" sz="1600" dirty="0"/>
          </a:p>
        </p:txBody>
      </p:sp>
      <p:sp>
        <p:nvSpPr>
          <p:cNvPr id="21" name="Text 18"/>
          <p:cNvSpPr txBox="1"/>
          <p:nvPr/>
        </p:nvSpPr>
        <p:spPr>
          <a:xfrm>
            <a:off x="7223760" y="3959352"/>
            <a:ext cx="4160520" cy="822960"/>
          </a:xfrm>
          <a:prstGeom prst="rect">
            <a:avLst/>
          </a:prstGeom>
          <a:noFill/>
          <a:ln/>
        </p:spPr>
        <p:txBody>
          <a:bodyPr wrap="square" lIns="0" tIns="0" rIns="0" bIns="0" rtlCol="0" anchor="ctr"/>
          <a:lstStyle/>
          <a:p>
            <a:pPr marL="0" indent="0">
              <a:lnSpc>
                <a:spcPts val="1600"/>
              </a:lnSpc>
              <a:buNone/>
            </a:pPr>
            <a:r>
              <a:rPr lang="en-US" sz="1400" dirty="0">
                <a:solidFill>
                  <a:srgbClr val="BFBFBF"/>
                </a:solidFill>
                <a:latin typeface="Calibri" pitchFamily="34" charset="0"/>
                <a:ea typeface="Calibri" pitchFamily="34" charset="-122"/>
                <a:cs typeface="Calibri" pitchFamily="34" charset="-120"/>
              </a:rPr>
              <a:t>Trees, polynomials, interactions, robust losses and fancier imputation all lost. The winning move was removing six columns.</a:t>
            </a:r>
            <a:endParaRPr lang="en-US" sz="1400" dirty="0"/>
          </a:p>
        </p:txBody>
      </p:sp>
      <p:sp>
        <p:nvSpPr>
          <p:cNvPr id="22" name="Text 19"/>
          <p:cNvSpPr txBox="1"/>
          <p:nvPr/>
        </p:nvSpPr>
        <p:spPr>
          <a:xfrm>
            <a:off x="548640" y="5257800"/>
            <a:ext cx="11094415" cy="777240"/>
          </a:xfrm>
          <a:prstGeom prst="rect">
            <a:avLst/>
          </a:prstGeom>
          <a:noFill/>
          <a:ln/>
        </p:spPr>
        <p:txBody>
          <a:bodyPr wrap="square" lIns="0" tIns="0" rIns="0" bIns="0" rtlCol="0" anchor="ctr"/>
          <a:lstStyle/>
          <a:p>
            <a:pPr marL="0" indent="0" algn="ctr">
              <a:buNone/>
            </a:pPr>
            <a:r>
              <a:rPr lang="en-US" sz="2000" b="1" i="1" dirty="0">
                <a:solidFill>
                  <a:srgbClr val="D9D9D9"/>
                </a:solidFill>
                <a:latin typeface="Cambria" pitchFamily="34" charset="0"/>
                <a:ea typeface="Cambria" pitchFamily="34" charset="-122"/>
                <a:cs typeface="Cambria" pitchFamily="34" charset="-120"/>
              </a:rPr>
              <a:t>In noisy competitions, honest evaluation beats clever modeling.</a:t>
            </a:r>
            <a:endParaRPr lang="en-US" sz="2000" dirty="0"/>
          </a:p>
        </p:txBody>
      </p:sp>
      <p:sp>
        <p:nvSpPr>
          <p:cNvPr id="23" name="Text 2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900" dirty="0">
                <a:solidFill>
                  <a:srgbClr val="9C9C9C"/>
                </a:solidFill>
                <a:latin typeface="Calibri" pitchFamily="34" charset="0"/>
                <a:ea typeface="Calibri" pitchFamily="34" charset="-122"/>
                <a:cs typeface="Calibri" pitchFamily="34" charset="-120"/>
              </a:rPr>
              <a:t>MSCS-2202  ·  Machine Learning  ·  Praful Maka</a:t>
            </a:r>
            <a:endParaRPr lang="en-US" sz="900" dirty="0"/>
          </a:p>
        </p:txBody>
      </p:sp>
      <p:sp>
        <p:nvSpPr>
          <p:cNvPr id="24" name="Text 21"/>
          <p:cNvSpPr txBox="1"/>
          <p:nvPr/>
        </p:nvSpPr>
        <p:spPr>
          <a:xfrm>
            <a:off x="10545775" y="6355080"/>
            <a:ext cx="109728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12</a:t>
            </a:r>
            <a:r>
              <a:rPr lang="en-US" sz="1000" dirty="0">
                <a:solidFill>
                  <a:srgbClr val="9C9C9C"/>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7A49F40-CF08-0364-60A4-8D496354BD4D}"/>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68CA28A5-0606-8DE4-8278-65E597CA71C6}"/>
              </a:ext>
            </a:extLst>
          </p:cNvPr>
          <p:cNvSpPr/>
          <p:nvPr/>
        </p:nvSpPr>
        <p:spPr>
          <a:xfrm>
            <a:off x="8869680" y="-1224871"/>
            <a:ext cx="5120640" cy="5120640"/>
          </a:xfrm>
          <a:prstGeom prst="ellipse">
            <a:avLst/>
          </a:prstGeom>
          <a:solidFill>
            <a:schemeClr val="accent1">
              <a:lumMod val="60000"/>
              <a:lumOff val="40000"/>
              <a:alpha val="70000"/>
            </a:schemeClr>
          </a:solidFill>
          <a:ln w="12700">
            <a:solidFill>
              <a:srgbClr val="2E2E2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a:extLst>
              <a:ext uri="{FF2B5EF4-FFF2-40B4-BE49-F238E27FC236}">
                <a16:creationId xmlns:a16="http://schemas.microsoft.com/office/drawing/2014/main" id="{A5D884EC-EF71-A8A0-B44A-203FDBC41869}"/>
              </a:ext>
            </a:extLst>
          </p:cNvPr>
          <p:cNvSpPr/>
          <p:nvPr/>
        </p:nvSpPr>
        <p:spPr>
          <a:xfrm>
            <a:off x="10152678" y="4155198"/>
            <a:ext cx="3108960" cy="3108960"/>
          </a:xfrm>
          <a:prstGeom prst="ellipse">
            <a:avLst/>
          </a:prstGeom>
          <a:solidFill>
            <a:schemeClr val="accent1">
              <a:lumMod val="60000"/>
              <a:lumOff val="40000"/>
              <a:alpha val="40000"/>
            </a:schemeClr>
          </a:solidFill>
          <a:ln w="12700">
            <a:solidFill>
              <a:srgbClr val="5C5C5C">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8E5542B3-AD1C-2E30-9326-9DEA457DF0AB}"/>
              </a:ext>
            </a:extLst>
          </p:cNvPr>
          <p:cNvGrpSpPr/>
          <p:nvPr/>
        </p:nvGrpSpPr>
        <p:grpSpPr>
          <a:xfrm>
            <a:off x="208392" y="316001"/>
            <a:ext cx="9144000" cy="6190800"/>
            <a:chOff x="208392" y="316001"/>
            <a:chExt cx="9144000" cy="6190800"/>
          </a:xfrm>
        </p:grpSpPr>
        <p:sp>
          <p:nvSpPr>
            <p:cNvPr id="5" name="Text 2">
              <a:extLst>
                <a:ext uri="{FF2B5EF4-FFF2-40B4-BE49-F238E27FC236}">
                  <a16:creationId xmlns:a16="http://schemas.microsoft.com/office/drawing/2014/main" id="{588C9AC1-595D-DE99-5133-99D2368FAE76}"/>
                </a:ext>
              </a:extLst>
            </p:cNvPr>
            <p:cNvSpPr txBox="1"/>
            <p:nvPr/>
          </p:nvSpPr>
          <p:spPr>
            <a:xfrm>
              <a:off x="208392" y="1168521"/>
              <a:ext cx="91440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5B5B5"/>
                  </a:solidFill>
                  <a:effectLst/>
                  <a:uLnTx/>
                  <a:uFillTx/>
                  <a:latin typeface="Calibri" pitchFamily="34" charset="0"/>
                  <a:ea typeface="Calibri" pitchFamily="34" charset="-122"/>
                  <a:cs typeface="Calibri" pitchFamily="34" charset="-120"/>
                </a:rPr>
                <a:t>SOFIA UNIVERSITY  ·  PALO ALTO, CALIFORNIA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2C05CD72-07FB-6E4C-E46A-C7C5CEE57072}"/>
                </a:ext>
              </a:extLst>
            </p:cNvPr>
            <p:cNvSpPr txBox="1"/>
            <p:nvPr/>
          </p:nvSpPr>
          <p:spPr>
            <a:xfrm>
              <a:off x="391272" y="1827744"/>
              <a:ext cx="8778240" cy="1783080"/>
            </a:xfrm>
            <a:prstGeom prst="rect">
              <a:avLst/>
            </a:prstGeom>
            <a:noFill/>
            <a:ln/>
          </p:spPr>
          <p:txBody>
            <a:bodyPr wrap="square" lIns="0" tIns="0" rIns="0" bIns="0" rtlCol="0" anchor="ctr"/>
            <a:lstStyle/>
            <a:p>
              <a:pPr marL="0" marR="0" lvl="0" indent="0" algn="ctr" defTabSz="914400" rtl="0" eaLnBrk="1" fontAlgn="auto" latinLnBrk="0" hangingPunct="1">
                <a:lnSpc>
                  <a:spcPts val="5000"/>
                </a:lnSpc>
                <a:spcBef>
                  <a:spcPts val="0"/>
                </a:spcBef>
                <a:spcAft>
                  <a:spcPts val="0"/>
                </a:spcAft>
                <a:buClrTx/>
                <a:buSzTx/>
                <a:buFontTx/>
                <a:buNone/>
                <a:tabLst/>
                <a:defRPr/>
              </a:pPr>
              <a:r>
                <a:rPr kumimoji="0" lang="en-US" sz="4000" b="1" i="1"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Thank You.</a:t>
              </a:r>
            </a:p>
            <a:p>
              <a:pPr marL="0" marR="0" lvl="0" indent="0" algn="ctr" defTabSz="914400" rtl="0" eaLnBrk="1" fontAlgn="auto" latinLnBrk="0" hangingPunct="1">
                <a:lnSpc>
                  <a:spcPts val="5000"/>
                </a:lnSpc>
                <a:spcBef>
                  <a:spcPts val="0"/>
                </a:spcBef>
                <a:spcAft>
                  <a:spcPts val="0"/>
                </a:spcAft>
                <a:buClrTx/>
                <a:buSzTx/>
                <a:buFontTx/>
                <a:buNone/>
                <a:tabLst/>
                <a:defRPr/>
              </a:pPr>
              <a:endParaRPr lang="en-US" sz="4000" b="1" i="1" dirty="0">
                <a:solidFill>
                  <a:srgbClr val="FFFFFF"/>
                </a:solidFill>
                <a:latin typeface="Cambria" pitchFamily="34" charset="0"/>
              </a:endParaRPr>
            </a:p>
            <a:p>
              <a:pPr marL="0" marR="0" lvl="0" indent="0" algn="ctr" defTabSz="914400" rtl="0" eaLnBrk="1" fontAlgn="auto" latinLnBrk="0" hangingPunct="1">
                <a:lnSpc>
                  <a:spcPts val="5000"/>
                </a:lnSpc>
                <a:spcBef>
                  <a:spcPts val="0"/>
                </a:spcBef>
                <a:spcAft>
                  <a:spcPts val="0"/>
                </a:spcAft>
                <a:buClrTx/>
                <a:buSzTx/>
                <a:buFontTx/>
                <a:buNone/>
                <a:tabLst/>
                <a:defRPr/>
              </a:pPr>
              <a:r>
                <a:rPr lang="en-US" sz="4000" b="1" i="1" dirty="0">
                  <a:solidFill>
                    <a:srgbClr val="FFFFFF"/>
                  </a:solidFill>
                  <a:latin typeface="Cambria" pitchFamily="34" charset="0"/>
                </a:rPr>
                <a:t>Questions?</a:t>
              </a:r>
              <a:endParaRPr kumimoji="0" lang="en-US" sz="40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A7891A19-B872-64FF-397F-CB39CAB5529D}"/>
                </a:ext>
              </a:extLst>
            </p:cNvPr>
            <p:cNvGrpSpPr/>
            <p:nvPr/>
          </p:nvGrpSpPr>
          <p:grpSpPr>
            <a:xfrm>
              <a:off x="2677272" y="4912554"/>
              <a:ext cx="4206240" cy="1594247"/>
              <a:chOff x="6470973" y="4020800"/>
              <a:chExt cx="4206240" cy="1594247"/>
            </a:xfrm>
          </p:grpSpPr>
          <p:sp>
            <p:nvSpPr>
              <p:cNvPr id="10" name="Text 7">
                <a:extLst>
                  <a:ext uri="{FF2B5EF4-FFF2-40B4-BE49-F238E27FC236}">
                    <a16:creationId xmlns:a16="http://schemas.microsoft.com/office/drawing/2014/main" id="{BE2EBD3D-CBB4-ABD2-E894-2FC36E50093E}"/>
                  </a:ext>
                </a:extLst>
              </p:cNvPr>
              <p:cNvSpPr txBox="1"/>
              <p:nvPr/>
            </p:nvSpPr>
            <p:spPr>
              <a:xfrm>
                <a:off x="6608133" y="4883527"/>
                <a:ext cx="3931920" cy="731520"/>
              </a:xfrm>
              <a:prstGeom prst="rect">
                <a:avLst/>
              </a:prstGeom>
              <a:noFill/>
              <a:ln/>
            </p:spPr>
            <p:txBody>
              <a:bodyPr wrap="square" lIns="0" tIns="0" rIns="0" bIns="0" rtlCol="0" anchor="ctr"/>
              <a:lstStyle/>
              <a:p>
                <a:pPr marL="0" marR="0" lvl="0" indent="0" algn="ctr" defTabSz="914400" rtl="0" eaLnBrk="1" fontAlgn="auto" latinLnBrk="0" hangingPunct="1">
                  <a:lnSpc>
                    <a:spcPts val="24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9C9C9C"/>
                    </a:solidFill>
                    <a:effectLst/>
                    <a:uLnTx/>
                    <a:uFillTx/>
                    <a:latin typeface="Calibri" pitchFamily="34" charset="0"/>
                    <a:ea typeface="Calibri" pitchFamily="34" charset="-122"/>
                    <a:cs typeface="Calibri" pitchFamily="34" charset="-120"/>
                  </a:rPr>
                  <a:t>PRESENTED BY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ts val="24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Praful Maka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a:extLst>
                  <a:ext uri="{FF2B5EF4-FFF2-40B4-BE49-F238E27FC236}">
                    <a16:creationId xmlns:a16="http://schemas.microsoft.com/office/drawing/2014/main" id="{1E42144B-0C81-27B3-89EA-064FAE904AAF}"/>
                  </a:ext>
                </a:extLst>
              </p:cNvPr>
              <p:cNvSpPr txBox="1"/>
              <p:nvPr/>
            </p:nvSpPr>
            <p:spPr>
              <a:xfrm>
                <a:off x="6470973" y="4020800"/>
                <a:ext cx="4206240" cy="731520"/>
              </a:xfrm>
              <a:prstGeom prst="rect">
                <a:avLst/>
              </a:prstGeom>
              <a:noFill/>
              <a:ln/>
            </p:spPr>
            <p:txBody>
              <a:bodyPr wrap="square" lIns="0" tIns="0" rIns="0" bIns="0" rtlCol="0" anchor="ctr"/>
              <a:lstStyle/>
              <a:p>
                <a:pPr marL="0" marR="0" lvl="0" indent="0" algn="ctr" defTabSz="914400" rtl="0" eaLnBrk="1" fontAlgn="auto" latinLnBrk="0" hangingPunct="1">
                  <a:lnSpc>
                    <a:spcPts val="24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9C9C9C"/>
                    </a:solidFill>
                    <a:effectLst/>
                    <a:uLnTx/>
                    <a:uFillTx/>
                    <a:latin typeface="Calibri" pitchFamily="34" charset="0"/>
                    <a:ea typeface="Calibri" pitchFamily="34" charset="-122"/>
                    <a:cs typeface="Calibri" pitchFamily="34" charset="-120"/>
                  </a:rPr>
                  <a:t>INSTRUCTOR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ts val="24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Dr. Alex Petiushko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3" name="Picture 12">
              <a:extLst>
                <a:ext uri="{FF2B5EF4-FFF2-40B4-BE49-F238E27FC236}">
                  <a16:creationId xmlns:a16="http://schemas.microsoft.com/office/drawing/2014/main" id="{9659DC36-B551-4364-4126-72C0261EFCAF}"/>
                </a:ext>
              </a:extLst>
            </p:cNvPr>
            <p:cNvPicPr>
              <a:picLocks noChangeAspect="1"/>
            </p:cNvPicPr>
            <p:nvPr/>
          </p:nvPicPr>
          <p:blipFill>
            <a:blip r:embed="rId3"/>
            <a:stretch>
              <a:fillRect/>
            </a:stretch>
          </p:blipFill>
          <p:spPr>
            <a:xfrm>
              <a:off x="3693148" y="316001"/>
              <a:ext cx="2174488" cy="713232"/>
            </a:xfrm>
            <a:prstGeom prst="rect">
              <a:avLst/>
            </a:prstGeom>
          </p:spPr>
        </p:pic>
        <p:sp>
          <p:nvSpPr>
            <p:cNvPr id="16" name="Text 8">
              <a:extLst>
                <a:ext uri="{FF2B5EF4-FFF2-40B4-BE49-F238E27FC236}">
                  <a16:creationId xmlns:a16="http://schemas.microsoft.com/office/drawing/2014/main" id="{FC93CC61-59D7-0521-2D7D-7B6DF190CFA8}"/>
                </a:ext>
              </a:extLst>
            </p:cNvPr>
            <p:cNvSpPr txBox="1"/>
            <p:nvPr/>
          </p:nvSpPr>
          <p:spPr>
            <a:xfrm>
              <a:off x="2677272" y="4098467"/>
              <a:ext cx="4206240" cy="731520"/>
            </a:xfrm>
            <a:prstGeom prst="rect">
              <a:avLst/>
            </a:prstGeom>
            <a:noFill/>
            <a:ln/>
          </p:spPr>
          <p:txBody>
            <a:bodyPr wrap="square" lIns="0" tIns="0" rIns="0" bIns="0" rtlCol="0" anchor="ctr"/>
            <a:lstStyle/>
            <a:p>
              <a:pPr marL="0" indent="0" algn="ctr">
                <a:lnSpc>
                  <a:spcPts val="2400"/>
                </a:lnSpc>
                <a:buNone/>
              </a:pPr>
              <a:r>
                <a:rPr lang="en-US" sz="2400" b="1" dirty="0">
                  <a:solidFill>
                    <a:srgbClr val="FFFFFF"/>
                  </a:solidFill>
                  <a:latin typeface="Calibri" pitchFamily="34" charset="0"/>
                  <a:ea typeface="Calibri" pitchFamily="34" charset="-122"/>
                  <a:cs typeface="Calibri" pitchFamily="34" charset="-120"/>
                </a:rPr>
                <a:t>MSCS-2202 . Machine Learning</a:t>
              </a:r>
              <a:endParaRPr lang="en-US" sz="1100" dirty="0"/>
            </a:p>
          </p:txBody>
        </p:sp>
      </p:grpSp>
    </p:spTree>
    <p:extLst>
      <p:ext uri="{BB962C8B-B14F-4D97-AF65-F5344CB8AC3E}">
        <p14:creationId xmlns:p14="http://schemas.microsoft.com/office/powerpoint/2010/main" val="1705241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4408</Words>
  <Application>Microsoft Macintosh PowerPoint</Application>
  <PresentationFormat>Widescreen</PresentationFormat>
  <Paragraphs>301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on 20 Anonymous Features</dc:title>
  <dc:subject>PptxGenJS Presentation</dc:subject>
  <dc:creator>Praful Maka</dc:creator>
  <cp:lastModifiedBy>Niranjan Maka</cp:lastModifiedBy>
  <cp:revision>23</cp:revision>
  <dcterms:created xsi:type="dcterms:W3CDTF">2026-09-09T07:43:06Z</dcterms:created>
  <dcterms:modified xsi:type="dcterms:W3CDTF">2026-09-10T03:44:47Z</dcterms:modified>
</cp:coreProperties>
</file>